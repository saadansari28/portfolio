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txBox="1"/>
          <p:nvPr/>
        </p:nvSpPr>
        <p:spPr>
          <a:xfrm>
            <a:off x="822960" y="2286000"/>
            <a:ext cx="105156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Credit Card Portfolio Analysis</a:t>
            </a:r>
            <a:endParaRPr lang="en-US" sz="4000" dirty="0"/>
          </a:p>
        </p:txBody>
      </p:sp>
      <p:sp>
        <p:nvSpPr>
          <p:cNvPr id="4" name="Text 2"/>
          <p:cNvSpPr txBox="1"/>
          <p:nvPr/>
        </p:nvSpPr>
        <p:spPr>
          <a:xfrm>
            <a:off x="822960" y="3246120"/>
            <a:ext cx="105156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Key Insights from a Power BI &amp; SQL Analysis of 10,000+ Customers</a:t>
            </a:r>
            <a:endParaRPr lang="en-US" sz="1800" dirty="0"/>
          </a:p>
        </p:txBody>
      </p:sp>
      <p:sp>
        <p:nvSpPr>
          <p:cNvPr id="5" name="Shape 3"/>
          <p:cNvSpPr/>
          <p:nvPr/>
        </p:nvSpPr>
        <p:spPr>
          <a:xfrm>
            <a:off x="822960" y="3977640"/>
            <a:ext cx="1463040" cy="54864"/>
          </a:xfrm>
          <a:prstGeom prst="rect">
            <a:avLst/>
          </a:prstGeom>
          <a:solidFill>
            <a:srgbClr val="CADCFC"/>
          </a:solidFill>
          <a:ln/>
        </p:spPr>
      </p:sp>
      <p:sp>
        <p:nvSpPr>
          <p:cNvPr id="6" name="Text 4"/>
          <p:cNvSpPr txBox="1"/>
          <p:nvPr/>
        </p:nvSpPr>
        <p:spPr>
          <a:xfrm>
            <a:off x="822960" y="6035040"/>
            <a:ext cx="54864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Saad Ansari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3200" b="1" dirty="0">
                <a:solidFill>
                  <a:srgbClr val="20263B"/>
                </a:solidFill>
                <a:latin typeface="Cambria" pitchFamily="34" charset="0"/>
                <a:ea typeface="Cambria" pitchFamily="34" charset="-122"/>
                <a:cs typeface="Cambria" pitchFamily="34" charset="-120"/>
              </a:rPr>
              <a:t>Project Overview</a:t>
            </a:r>
            <a:endParaRPr lang="en-US" sz="3200" dirty="0"/>
          </a:p>
        </p:txBody>
      </p:sp>
      <p:sp>
        <p:nvSpPr>
          <p:cNvPr id="3" name="Text 1"/>
          <p:cNvSpPr txBox="1"/>
          <p:nvPr/>
        </p:nvSpPr>
        <p:spPr>
          <a:xfrm>
            <a:off x="640080" y="1234440"/>
            <a:ext cx="10881360" cy="822960"/>
          </a:xfrm>
          <a:prstGeom prst="rect">
            <a:avLst/>
          </a:prstGeom>
          <a:noFill/>
          <a:ln/>
        </p:spPr>
        <p:txBody>
          <a:bodyPr wrap="square" lIns="0" tIns="0" rIns="0" bIns="0" rtlCol="0" anchor="ctr"/>
          <a:lstStyle/>
          <a:p>
            <a:pPr indent="0" marL="0">
              <a:buNone/>
            </a:pPr>
            <a:r>
              <a:rPr lang="en-US" sz="1500" dirty="0">
                <a:solidFill>
                  <a:srgbClr val="5B6488"/>
                </a:solidFill>
                <a:latin typeface="Calibri" pitchFamily="34" charset="0"/>
                <a:ea typeface="Calibri" pitchFamily="34" charset="-122"/>
                <a:cs typeface="Calibri" pitchFamily="34" charset="-120"/>
              </a:rPr>
              <a:t>A 3-page Power BI report — built on a PostgreSQL data model with custom DAX measures — analyzing transaction trends, customer segmentation, and credit risk across a 10,000+ customer portfolio.</a:t>
            </a:r>
            <a:endParaRPr lang="en-US" sz="1500" dirty="0"/>
          </a:p>
        </p:txBody>
      </p:sp>
      <p:sp>
        <p:nvSpPr>
          <p:cNvPr id="4" name="Shape 2"/>
          <p:cNvSpPr/>
          <p:nvPr/>
        </p:nvSpPr>
        <p:spPr>
          <a:xfrm>
            <a:off x="640080" y="2377440"/>
            <a:ext cx="2514600" cy="1828800"/>
          </a:xfrm>
          <a:prstGeom prst="roundRect">
            <a:avLst>
              <a:gd name="adj" fmla="val 5000"/>
            </a:avLst>
          </a:prstGeom>
          <a:solidFill>
            <a:srgbClr val="F4F6FC"/>
          </a:solidFill>
          <a:ln w="12700">
            <a:solidFill>
              <a:srgbClr val="F4F6FC"/>
            </a:solidFill>
            <a:prstDash val="solid"/>
          </a:ln>
        </p:spPr>
      </p:sp>
      <p:sp>
        <p:nvSpPr>
          <p:cNvPr id="5" name="Text 3"/>
          <p:cNvSpPr txBox="1"/>
          <p:nvPr/>
        </p:nvSpPr>
        <p:spPr>
          <a:xfrm>
            <a:off x="640080" y="2697480"/>
            <a:ext cx="251460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10K+</a:t>
            </a:r>
            <a:endParaRPr lang="en-US" sz="3400" dirty="0"/>
          </a:p>
        </p:txBody>
      </p:sp>
      <p:sp>
        <p:nvSpPr>
          <p:cNvPr id="6" name="Text 4"/>
          <p:cNvSpPr txBox="1"/>
          <p:nvPr/>
        </p:nvSpPr>
        <p:spPr>
          <a:xfrm>
            <a:off x="777240" y="3566160"/>
            <a:ext cx="2240280" cy="548640"/>
          </a:xfrm>
          <a:prstGeom prst="rect">
            <a:avLst/>
          </a:prstGeom>
          <a:noFill/>
          <a:ln/>
        </p:spPr>
        <p:txBody>
          <a:bodyPr wrap="square" lIns="0" tIns="0" rIns="0" bIns="0" rtlCol="0" anchor="ctr"/>
          <a:lstStyle/>
          <a:p>
            <a:pPr algn="ctr" indent="0" marL="0">
              <a:buNone/>
            </a:pPr>
            <a:r>
              <a:rPr lang="en-US" sz="1200" dirty="0">
                <a:solidFill>
                  <a:srgbClr val="5B6488"/>
                </a:solidFill>
                <a:latin typeface="Calibri" pitchFamily="34" charset="0"/>
                <a:ea typeface="Calibri" pitchFamily="34" charset="-122"/>
                <a:cs typeface="Calibri" pitchFamily="34" charset="-120"/>
              </a:rPr>
              <a:t>Customers Analyzed</a:t>
            </a:r>
            <a:endParaRPr lang="en-US" sz="1200" dirty="0"/>
          </a:p>
        </p:txBody>
      </p:sp>
      <p:sp>
        <p:nvSpPr>
          <p:cNvPr id="7" name="Shape 5"/>
          <p:cNvSpPr/>
          <p:nvPr/>
        </p:nvSpPr>
        <p:spPr>
          <a:xfrm>
            <a:off x="3429000" y="2377440"/>
            <a:ext cx="2514600" cy="1828800"/>
          </a:xfrm>
          <a:prstGeom prst="roundRect">
            <a:avLst>
              <a:gd name="adj" fmla="val 5000"/>
            </a:avLst>
          </a:prstGeom>
          <a:solidFill>
            <a:srgbClr val="F4F6FC"/>
          </a:solidFill>
          <a:ln w="12700">
            <a:solidFill>
              <a:srgbClr val="F4F6FC"/>
            </a:solidFill>
            <a:prstDash val="solid"/>
          </a:ln>
        </p:spPr>
      </p:sp>
      <p:sp>
        <p:nvSpPr>
          <p:cNvPr id="8" name="Text 6"/>
          <p:cNvSpPr txBox="1"/>
          <p:nvPr/>
        </p:nvSpPr>
        <p:spPr>
          <a:xfrm>
            <a:off x="3429000" y="2697480"/>
            <a:ext cx="251460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3</a:t>
            </a:r>
            <a:endParaRPr lang="en-US" sz="3400" dirty="0"/>
          </a:p>
        </p:txBody>
      </p:sp>
      <p:sp>
        <p:nvSpPr>
          <p:cNvPr id="9" name="Text 7"/>
          <p:cNvSpPr txBox="1"/>
          <p:nvPr/>
        </p:nvSpPr>
        <p:spPr>
          <a:xfrm>
            <a:off x="3566160" y="3566160"/>
            <a:ext cx="2240280" cy="548640"/>
          </a:xfrm>
          <a:prstGeom prst="rect">
            <a:avLst/>
          </a:prstGeom>
          <a:noFill/>
          <a:ln/>
        </p:spPr>
        <p:txBody>
          <a:bodyPr wrap="square" lIns="0" tIns="0" rIns="0" bIns="0" rtlCol="0" anchor="ctr"/>
          <a:lstStyle/>
          <a:p>
            <a:pPr algn="ctr" indent="0" marL="0">
              <a:buNone/>
            </a:pPr>
            <a:r>
              <a:rPr lang="en-US" sz="1200" dirty="0">
                <a:solidFill>
                  <a:srgbClr val="5B6488"/>
                </a:solidFill>
                <a:latin typeface="Calibri" pitchFamily="34" charset="0"/>
                <a:ea typeface="Calibri" pitchFamily="34" charset="-122"/>
                <a:cs typeface="Calibri" pitchFamily="34" charset="-120"/>
              </a:rPr>
              <a:t>Dashboard Pages</a:t>
            </a:r>
            <a:endParaRPr lang="en-US" sz="1200" dirty="0"/>
          </a:p>
        </p:txBody>
      </p:sp>
      <p:sp>
        <p:nvSpPr>
          <p:cNvPr id="10" name="Shape 8"/>
          <p:cNvSpPr/>
          <p:nvPr/>
        </p:nvSpPr>
        <p:spPr>
          <a:xfrm>
            <a:off x="6217920" y="2377440"/>
            <a:ext cx="2514600" cy="1828800"/>
          </a:xfrm>
          <a:prstGeom prst="roundRect">
            <a:avLst>
              <a:gd name="adj" fmla="val 5000"/>
            </a:avLst>
          </a:prstGeom>
          <a:solidFill>
            <a:srgbClr val="F4F6FC"/>
          </a:solidFill>
          <a:ln w="12700">
            <a:solidFill>
              <a:srgbClr val="F4F6FC"/>
            </a:solidFill>
            <a:prstDash val="solid"/>
          </a:ln>
        </p:spPr>
      </p:sp>
      <p:sp>
        <p:nvSpPr>
          <p:cNvPr id="11" name="Text 9"/>
          <p:cNvSpPr txBox="1"/>
          <p:nvPr/>
        </p:nvSpPr>
        <p:spPr>
          <a:xfrm>
            <a:off x="6217920" y="2697480"/>
            <a:ext cx="251460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$57M</a:t>
            </a:r>
            <a:endParaRPr lang="en-US" sz="3400" dirty="0"/>
          </a:p>
        </p:txBody>
      </p:sp>
      <p:sp>
        <p:nvSpPr>
          <p:cNvPr id="12" name="Text 10"/>
          <p:cNvSpPr txBox="1"/>
          <p:nvPr/>
        </p:nvSpPr>
        <p:spPr>
          <a:xfrm>
            <a:off x="6355080" y="3566160"/>
            <a:ext cx="2240280" cy="548640"/>
          </a:xfrm>
          <a:prstGeom prst="rect">
            <a:avLst/>
          </a:prstGeom>
          <a:noFill/>
          <a:ln/>
        </p:spPr>
        <p:txBody>
          <a:bodyPr wrap="square" lIns="0" tIns="0" rIns="0" bIns="0" rtlCol="0" anchor="ctr"/>
          <a:lstStyle/>
          <a:p>
            <a:pPr algn="ctr" indent="0" marL="0">
              <a:buNone/>
            </a:pPr>
            <a:r>
              <a:rPr lang="en-US" sz="1200" dirty="0">
                <a:solidFill>
                  <a:srgbClr val="5B6488"/>
                </a:solidFill>
                <a:latin typeface="Calibri" pitchFamily="34" charset="0"/>
                <a:ea typeface="Calibri" pitchFamily="34" charset="-122"/>
                <a:cs typeface="Calibri" pitchFamily="34" charset="-120"/>
              </a:rPr>
              <a:t>Total Revenue Tracked</a:t>
            </a:r>
            <a:endParaRPr lang="en-US" sz="1200" dirty="0"/>
          </a:p>
        </p:txBody>
      </p:sp>
      <p:sp>
        <p:nvSpPr>
          <p:cNvPr id="13" name="Shape 11"/>
          <p:cNvSpPr/>
          <p:nvPr/>
        </p:nvSpPr>
        <p:spPr>
          <a:xfrm>
            <a:off x="9006840" y="2377440"/>
            <a:ext cx="2514600" cy="1828800"/>
          </a:xfrm>
          <a:prstGeom prst="roundRect">
            <a:avLst>
              <a:gd name="adj" fmla="val 5000"/>
            </a:avLst>
          </a:prstGeom>
          <a:solidFill>
            <a:srgbClr val="F4F6FC"/>
          </a:solidFill>
          <a:ln w="12700">
            <a:solidFill>
              <a:srgbClr val="F4F6FC"/>
            </a:solidFill>
            <a:prstDash val="solid"/>
          </a:ln>
        </p:spPr>
      </p:sp>
      <p:sp>
        <p:nvSpPr>
          <p:cNvPr id="14" name="Text 12"/>
          <p:cNvSpPr txBox="1"/>
          <p:nvPr/>
        </p:nvSpPr>
        <p:spPr>
          <a:xfrm>
            <a:off x="9006840" y="2697480"/>
            <a:ext cx="2514600" cy="82296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7</a:t>
            </a:r>
            <a:endParaRPr lang="en-US" sz="3400" dirty="0"/>
          </a:p>
        </p:txBody>
      </p:sp>
      <p:sp>
        <p:nvSpPr>
          <p:cNvPr id="15" name="Text 13"/>
          <p:cNvSpPr txBox="1"/>
          <p:nvPr/>
        </p:nvSpPr>
        <p:spPr>
          <a:xfrm>
            <a:off x="9144000" y="3566160"/>
            <a:ext cx="2240280" cy="548640"/>
          </a:xfrm>
          <a:prstGeom prst="rect">
            <a:avLst/>
          </a:prstGeom>
          <a:noFill/>
          <a:ln/>
        </p:spPr>
        <p:txBody>
          <a:bodyPr wrap="square" lIns="0" tIns="0" rIns="0" bIns="0" rtlCol="0" anchor="ctr"/>
          <a:lstStyle/>
          <a:p>
            <a:pPr algn="ctr" indent="0" marL="0">
              <a:buNone/>
            </a:pPr>
            <a:r>
              <a:rPr lang="en-US" sz="1200" dirty="0">
                <a:solidFill>
                  <a:srgbClr val="5B6488"/>
                </a:solidFill>
                <a:latin typeface="Calibri" pitchFamily="34" charset="0"/>
                <a:ea typeface="Calibri" pitchFamily="34" charset="-122"/>
                <a:cs typeface="Calibri" pitchFamily="34" charset="-120"/>
              </a:rPr>
              <a:t>Key Data-Driven Insights</a:t>
            </a:r>
            <a:endParaRPr lang="en-US" sz="1200" dirty="0"/>
          </a:p>
        </p:txBody>
      </p:sp>
      <p:sp>
        <p:nvSpPr>
          <p:cNvPr id="16" name="Text 14"/>
          <p:cNvSpPr txBox="1"/>
          <p:nvPr/>
        </p:nvSpPr>
        <p:spPr>
          <a:xfrm>
            <a:off x="640080" y="4663440"/>
            <a:ext cx="10515600" cy="365760"/>
          </a:xfrm>
          <a:prstGeom prst="rect">
            <a:avLst/>
          </a:prstGeom>
          <a:noFill/>
          <a:ln/>
        </p:spPr>
        <p:txBody>
          <a:bodyPr wrap="square" lIns="0" tIns="0" rIns="0" bIns="0" rtlCol="0" anchor="ctr"/>
          <a:lstStyle/>
          <a:p>
            <a:pPr indent="0" marL="0">
              <a:buNone/>
            </a:pPr>
            <a:r>
              <a:rPr lang="en-US" sz="1300" b="1" dirty="0">
                <a:solidFill>
                  <a:srgbClr val="20263B"/>
                </a:solidFill>
                <a:latin typeface="Calibri" pitchFamily="34" charset="0"/>
                <a:ea typeface="Calibri" pitchFamily="34" charset="-122"/>
                <a:cs typeface="Calibri" pitchFamily="34" charset="-120"/>
              </a:rPr>
              <a:t>Tools: PostgreSQL   •   SQL   •   Power BI   •   DAX   •   Power Query</a:t>
            </a:r>
            <a:endParaRPr lang="en-US" sz="1300" dirty="0"/>
          </a:p>
        </p:txBody>
      </p:sp>
      <p:sp>
        <p:nvSpPr>
          <p:cNvPr id="17" name="Text 15"/>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1</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$98</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avg. cost to acquire a Platinum customer</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Acquisition Cost Doesn't Align With Revenue</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Platinum cardholders cost the most to acquire per customer, yet generate the least total revenue of any tier. The Blue tier, by contrast, is the cheapest to acquire and drives the large majority of total portfolio revenue — suggesting acquisition spend may be misallocated across tiers.</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2</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6.9%</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delinquency rate, males aged 20–30</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Delinquency Risk Reverses by Age and Gender</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Younger male customers (20–30) show nearly double the delinquency rate of younger females in the same age group. That pattern fully reverses by age 60+, where female delinquency becomes the higher of the two — risk is not a flat, one-directional trend.</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3</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6.3%</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delinquency rate in the LOW utilization bucket</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Utilization and Delinquency Run Counter to Expectation</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Customers in the lowest credit-utilization bucket showed the highest delinquency rate — the opposite of the common assumption that heavier card usage signals higher risk. This points to a more complex risk profile than utilization alone can explain.</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4</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29%</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utilization rate on the entry-level Blue card</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Card Tier Doesn't Predict Spending Behavior</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Blue cardholders carry the lowest credit limit and lowest revolving balance of any tier, yet show by far the highest utilization rate. They operate with the least financial headroom of any segment — despite being the bank's entry-level product.</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5</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43%</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new cards are not activated within 30 days</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Nearly Half of New Cards Go Unused</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Portfolio-wide activation sits at just 57%. Silver activates best of any tier (62%), while Gold lags at 56% — meaning a large share of newly issued cards, especially in premium tiers, sit unused in a customer's wallet after signup.</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6</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$29.9M</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revenue from non-homeowners vs. $25.4M from homeowners</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Home Ownership Doesn't Guarantee Higher Revenue</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Customers who don't own a home actually generate slightly more total revenue than those who do. Ownership status — often assumed to be a marker of financial stability — isn't a reliable predictor of card revenue in this portfolio.</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rgbClr val="1E2761"/>
          </a:solidFill>
          <a:ln/>
        </p:spPr>
      </p:sp>
      <p:sp>
        <p:nvSpPr>
          <p:cNvPr id="3" name="Text 1"/>
          <p:cNvSpPr txBox="1"/>
          <p:nvPr/>
        </p:nvSpPr>
        <p:spPr>
          <a:xfrm>
            <a:off x="548640" y="640080"/>
            <a:ext cx="2194560" cy="36576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INSIGHT</a:t>
            </a:r>
            <a:endParaRPr lang="en-US" sz="1200" dirty="0"/>
          </a:p>
        </p:txBody>
      </p:sp>
      <p:sp>
        <p:nvSpPr>
          <p:cNvPr id="4" name="Text 2"/>
          <p:cNvSpPr txBox="1"/>
          <p:nvPr/>
        </p:nvSpPr>
        <p:spPr>
          <a:xfrm>
            <a:off x="457200" y="914400"/>
            <a:ext cx="237744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7</a:t>
            </a:r>
            <a:endParaRPr lang="en-US" sz="8000" dirty="0"/>
          </a:p>
        </p:txBody>
      </p:sp>
      <p:sp>
        <p:nvSpPr>
          <p:cNvPr id="5" name="Shape 3"/>
          <p:cNvSpPr/>
          <p:nvPr/>
        </p:nvSpPr>
        <p:spPr>
          <a:xfrm>
            <a:off x="548640" y="2743200"/>
            <a:ext cx="1188720" cy="45720"/>
          </a:xfrm>
          <a:prstGeom prst="rect">
            <a:avLst/>
          </a:prstGeom>
          <a:solidFill>
            <a:srgbClr val="CADCFC"/>
          </a:solidFill>
          <a:ln/>
        </p:spPr>
      </p:sp>
      <p:sp>
        <p:nvSpPr>
          <p:cNvPr id="6" name="Text 4"/>
          <p:cNvSpPr txBox="1"/>
          <p:nvPr/>
        </p:nvSpPr>
        <p:spPr>
          <a:xfrm>
            <a:off x="548640" y="3017520"/>
            <a:ext cx="2377440" cy="82296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1,388</a:t>
            </a:r>
            <a:endParaRPr lang="en-US" sz="3000" dirty="0"/>
          </a:p>
        </p:txBody>
      </p:sp>
      <p:sp>
        <p:nvSpPr>
          <p:cNvPr id="7" name="Text 5"/>
          <p:cNvSpPr txBox="1"/>
          <p:nvPr/>
        </p:nvSpPr>
        <p:spPr>
          <a:xfrm>
            <a:off x="548640" y="3794760"/>
            <a:ext cx="246888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avg. revolving balance for Platinum, despite a mid-range limit</a:t>
            </a:r>
            <a:endParaRPr lang="en-US" sz="1200" dirty="0"/>
          </a:p>
        </p:txBody>
      </p:sp>
      <p:sp>
        <p:nvSpPr>
          <p:cNvPr id="8" name="Text 6"/>
          <p:cNvSpPr txBox="1"/>
          <p:nvPr/>
        </p:nvSpPr>
        <p:spPr>
          <a:xfrm>
            <a:off x="3749040" y="822960"/>
            <a:ext cx="7863840" cy="1188720"/>
          </a:xfrm>
          <a:prstGeom prst="rect">
            <a:avLst/>
          </a:prstGeom>
          <a:noFill/>
          <a:ln/>
        </p:spPr>
        <p:txBody>
          <a:bodyPr wrap="square" lIns="0" tIns="0" rIns="0" bIns="0" rtlCol="0" anchor="ctr"/>
          <a:lstStyle/>
          <a:p>
            <a:pPr indent="0" marL="0">
              <a:buNone/>
            </a:pPr>
            <a:r>
              <a:rPr lang="en-US" sz="2600" b="1" dirty="0">
                <a:solidFill>
                  <a:srgbClr val="20263B"/>
                </a:solidFill>
                <a:latin typeface="Cambria" pitchFamily="34" charset="0"/>
                <a:ea typeface="Cambria" pitchFamily="34" charset="-122"/>
                <a:cs typeface="Cambria" pitchFamily="34" charset="-120"/>
              </a:rPr>
              <a:t>Platinum Carries the Highest Revolving Balance</a:t>
            </a:r>
            <a:endParaRPr lang="en-US" sz="2600" dirty="0"/>
          </a:p>
        </p:txBody>
      </p:sp>
      <p:sp>
        <p:nvSpPr>
          <p:cNvPr id="9" name="Text 7"/>
          <p:cNvSpPr txBox="1"/>
          <p:nvPr/>
        </p:nvSpPr>
        <p:spPr>
          <a:xfrm>
            <a:off x="3749040" y="2103120"/>
            <a:ext cx="7772400" cy="2926080"/>
          </a:xfrm>
          <a:prstGeom prst="rect">
            <a:avLst/>
          </a:prstGeom>
          <a:noFill/>
          <a:ln/>
        </p:spPr>
        <p:txBody>
          <a:bodyPr wrap="square" lIns="0" tIns="0" rIns="0" bIns="0" rtlCol="0" anchor="ctr"/>
          <a:lstStyle/>
          <a:p>
            <a:pPr indent="0" marL="0">
              <a:lnSpc>
                <a:spcPct val="130000"/>
              </a:lnSpc>
              <a:buNone/>
            </a:pPr>
            <a:r>
              <a:rPr lang="en-US" sz="1500" dirty="0">
                <a:solidFill>
                  <a:srgbClr val="5B6488"/>
                </a:solidFill>
                <a:latin typeface="Calibri" pitchFamily="34" charset="0"/>
                <a:ea typeface="Calibri" pitchFamily="34" charset="-122"/>
                <a:cs typeface="Calibri" pitchFamily="34" charset="-120"/>
              </a:rPr>
              <a:t>Platinum sits second-lowest in credit limit but carries the highest average revolving balance of any tier. Premium card status doesn't translate to lower carried balances — Platinum customers hold more outstanding debt than higher-limit Silver or Gold cardholders.</a:t>
            </a:r>
            <a:endParaRPr lang="en-US" sz="1500" dirty="0"/>
          </a:p>
        </p:txBody>
      </p:sp>
      <p:sp>
        <p:nvSpPr>
          <p:cNvPr id="10" name="Text 8"/>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640080"/>
            <a:ext cx="54864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Approach</a:t>
            </a:r>
            <a:endParaRPr lang="en-US" sz="2600" dirty="0"/>
          </a:p>
        </p:txBody>
      </p:sp>
      <p:sp>
        <p:nvSpPr>
          <p:cNvPr id="3" name="Shape 1"/>
          <p:cNvSpPr/>
          <p:nvPr/>
        </p:nvSpPr>
        <p:spPr>
          <a:xfrm>
            <a:off x="822960" y="1463040"/>
            <a:ext cx="365760" cy="365760"/>
          </a:xfrm>
          <a:prstGeom prst="ellipse">
            <a:avLst/>
          </a:prstGeom>
          <a:solidFill>
            <a:srgbClr val="CADCFC"/>
          </a:solidFill>
          <a:ln/>
        </p:spPr>
      </p:sp>
      <p:sp>
        <p:nvSpPr>
          <p:cNvPr id="4" name="Text 2"/>
          <p:cNvSpPr txBox="1"/>
          <p:nvPr/>
        </p:nvSpPr>
        <p:spPr>
          <a:xfrm>
            <a:off x="822960" y="1463040"/>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417320" y="1389888"/>
            <a:ext cx="98755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Modeled customer &amp; transaction data in PostgreSQL with foreign-key relationships</a:t>
            </a:r>
            <a:endParaRPr lang="en-US" sz="1400" dirty="0"/>
          </a:p>
        </p:txBody>
      </p:sp>
      <p:sp>
        <p:nvSpPr>
          <p:cNvPr id="6" name="Shape 4"/>
          <p:cNvSpPr/>
          <p:nvPr/>
        </p:nvSpPr>
        <p:spPr>
          <a:xfrm>
            <a:off x="822960" y="2240280"/>
            <a:ext cx="365760" cy="365760"/>
          </a:xfrm>
          <a:prstGeom prst="ellipse">
            <a:avLst/>
          </a:prstGeom>
          <a:solidFill>
            <a:srgbClr val="CADCFC"/>
          </a:solidFill>
          <a:ln/>
        </p:spPr>
      </p:sp>
      <p:sp>
        <p:nvSpPr>
          <p:cNvPr id="7" name="Text 5"/>
          <p:cNvSpPr txBox="1"/>
          <p:nvPr/>
        </p:nvSpPr>
        <p:spPr>
          <a:xfrm>
            <a:off x="822960" y="2240280"/>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417320" y="2167128"/>
            <a:ext cx="98755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Connected Power BI directly to SQL and built a star-schema data model</a:t>
            </a:r>
            <a:endParaRPr lang="en-US" sz="1400" dirty="0"/>
          </a:p>
        </p:txBody>
      </p:sp>
      <p:sp>
        <p:nvSpPr>
          <p:cNvPr id="9" name="Shape 7"/>
          <p:cNvSpPr/>
          <p:nvPr/>
        </p:nvSpPr>
        <p:spPr>
          <a:xfrm>
            <a:off x="822960" y="3017520"/>
            <a:ext cx="365760" cy="365760"/>
          </a:xfrm>
          <a:prstGeom prst="ellipse">
            <a:avLst/>
          </a:prstGeom>
          <a:solidFill>
            <a:srgbClr val="CADCFC"/>
          </a:solidFill>
          <a:ln/>
        </p:spPr>
      </p:sp>
      <p:sp>
        <p:nvSpPr>
          <p:cNvPr id="10" name="Text 8"/>
          <p:cNvSpPr txBox="1"/>
          <p:nvPr/>
        </p:nvSpPr>
        <p:spPr>
          <a:xfrm>
            <a:off x="822960" y="3017520"/>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417320" y="2944368"/>
            <a:ext cx="98755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Cleaned data and authored custom DAX risk &amp; revenue measures</a:t>
            </a:r>
            <a:endParaRPr lang="en-US" sz="1400" dirty="0"/>
          </a:p>
        </p:txBody>
      </p:sp>
      <p:sp>
        <p:nvSpPr>
          <p:cNvPr id="12" name="Shape 10"/>
          <p:cNvSpPr/>
          <p:nvPr/>
        </p:nvSpPr>
        <p:spPr>
          <a:xfrm>
            <a:off x="822960" y="3794760"/>
            <a:ext cx="365760" cy="365760"/>
          </a:xfrm>
          <a:prstGeom prst="ellipse">
            <a:avLst/>
          </a:prstGeom>
          <a:solidFill>
            <a:srgbClr val="CADCFC"/>
          </a:solidFill>
          <a:ln/>
        </p:spPr>
      </p:sp>
      <p:sp>
        <p:nvSpPr>
          <p:cNvPr id="13" name="Text 11"/>
          <p:cNvSpPr txBox="1"/>
          <p:nvPr/>
        </p:nvSpPr>
        <p:spPr>
          <a:xfrm>
            <a:off x="822960" y="3794760"/>
            <a:ext cx="36576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417320" y="3721608"/>
            <a:ext cx="98755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Structured 3 purpose-built report pages, then validated a live data refresh end-to-end</a:t>
            </a:r>
            <a:endParaRPr lang="en-US" sz="1400" dirty="0"/>
          </a:p>
        </p:txBody>
      </p:sp>
      <p:sp>
        <p:nvSpPr>
          <p:cNvPr id="15" name="Text 13"/>
          <p:cNvSpPr txBox="1"/>
          <p:nvPr/>
        </p:nvSpPr>
        <p:spPr>
          <a:xfrm>
            <a:off x="822960" y="5943600"/>
            <a:ext cx="5486400" cy="54864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Thank you</a:t>
            </a:r>
            <a:endParaRPr lang="en-US" sz="1800" dirty="0"/>
          </a:p>
        </p:txBody>
      </p:sp>
      <p:sp>
        <p:nvSpPr>
          <p:cNvPr id="16" name="Text 14"/>
          <p:cNvSpPr txBox="1"/>
          <p:nvPr/>
        </p:nvSpPr>
        <p:spPr>
          <a:xfrm>
            <a:off x="11548872" y="6400800"/>
            <a:ext cx="365760" cy="274320"/>
          </a:xfrm>
          <a:prstGeom prst="rect">
            <a:avLst/>
          </a:prstGeom>
          <a:noFill/>
          <a:ln/>
        </p:spPr>
        <p:txBody>
          <a:bodyPr wrap="square" lIns="0" tIns="0" rIns="0" bIns="0" rtlCol="0" anchor="ctr"/>
          <a:lstStyle/>
          <a:p>
            <a:pPr algn="r" indent="0" marL="0">
              <a:buNone/>
            </a:pPr>
            <a:r>
              <a:rPr lang="en-US" sz="1000" dirty="0">
                <a:solidFill>
                  <a:srgbClr val="5B648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2026-09-24T05:21:27Z</dcterms:created>
  <dcterms:modified xsi:type="dcterms:W3CDTF">2026-09-24T05:21:27Z</dcterms:modified>
</cp:coreProperties>
</file>