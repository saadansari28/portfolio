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66AF398-FC21-F261-FACD-84400A977158}">
          <p14:sldIdLst>
            <p14:sldId id="256"/>
            <p14:sldId id="257"/>
            <p14:sldId id="258"/>
          </p14:sldIdLst>
        </p14:section>
        <p14:section name="Insights" id="{87708CCC-9342-A68A-CD3E-B9951C8045C4}">
          <p14:sldIdLst>
            <p14:sldId id="259"/>
            <p14:sldId id="260"/>
            <p14:sldId id="261"/>
            <p14:sldId id="262"/>
            <p14:sldId id="263"/>
            <p14:sldId id="264"/>
          </p14:sldIdLst>
        </p14:section>
        <p14:section name="Actions" id="{0BF17043-A8C5-3227-0088-8CDEBB9A2E78}">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0B1F3A"/>
                </a:solidFill>
                <a:latin typeface="+mn-lt"/>
              </a:defRPr>
            </a:pPr>
            <a:r>
              <a:rPr lang="en-US" sz="1200" b="1" i="0" u="none" strike="noStrike">
                <a:solidFill>
                  <a:srgbClr val="0B1F3A"/>
                </a:solidFill>
                <a:latin typeface="+mn-lt"/>
              </a:rPr>
              <a:t>Net revenue by hour of day (₹M)</a:t>
            </a:r>
          </a:p>
        </c:rich>
      </c:tx>
      <c:overlay val="0"/>
    </c:title>
    <c:autoTitleDeleted val="0"/>
    <c:plotArea>
      <c:layout/>
      <c:barChart>
        <c:barDir val="col"/>
        <c:grouping val="clustered"/>
        <c:varyColors val="0"/>
        <c:ser>
          <c:idx val="0"/>
          <c:order val="0"/>
          <c:tx>
            <c:strRef>
              <c:f>Sheet1!$B$1</c:f>
              <c:strCache>
                <c:ptCount val="1"/>
                <c:pt idx="0">
                  <c:v>Net revenue (₹M)</c:v>
                </c:pt>
              </c:strCache>
            </c:strRef>
          </c:tx>
          <c:spPr>
            <a:solidFill>
              <a:srgbClr val="14B8A6"/>
            </a:solidFill>
            <a:effectLst/>
          </c:spPr>
          <c:invertIfNegative val="0"/>
          <c:dPt>
            <c:idx val="0"/>
            <c:invertIfNegative val="0"/>
            <c:bubble3D val="0"/>
            <c:extLst>
              <c:ext xmlns:c16="http://schemas.microsoft.com/office/drawing/2014/chart" uri="{C3380CC4-5D6E-409C-BE32-E72D297353CC}">
                <c16:uniqueId val="{00000001-D48F-4FF8-B199-C1AD412C1D32}"/>
              </c:ext>
            </c:extLst>
          </c:dPt>
          <c:dPt>
            <c:idx val="1"/>
            <c:invertIfNegative val="0"/>
            <c:bubble3D val="0"/>
            <c:extLst>
              <c:ext xmlns:c16="http://schemas.microsoft.com/office/drawing/2014/chart" uri="{C3380CC4-5D6E-409C-BE32-E72D297353CC}">
                <c16:uniqueId val="{00000003-D48F-4FF8-B199-C1AD412C1D32}"/>
              </c:ext>
            </c:extLst>
          </c:dPt>
          <c:dPt>
            <c:idx val="2"/>
            <c:invertIfNegative val="0"/>
            <c:bubble3D val="0"/>
            <c:extLst>
              <c:ext xmlns:c16="http://schemas.microsoft.com/office/drawing/2014/chart" uri="{C3380CC4-5D6E-409C-BE32-E72D297353CC}">
                <c16:uniqueId val="{00000005-D48F-4FF8-B199-C1AD412C1D32}"/>
              </c:ext>
            </c:extLst>
          </c:dPt>
          <c:dPt>
            <c:idx val="3"/>
            <c:invertIfNegative val="0"/>
            <c:bubble3D val="0"/>
            <c:extLst>
              <c:ext xmlns:c16="http://schemas.microsoft.com/office/drawing/2014/chart" uri="{C3380CC4-5D6E-409C-BE32-E72D297353CC}">
                <c16:uniqueId val="{00000007-D48F-4FF8-B199-C1AD412C1D32}"/>
              </c:ext>
            </c:extLst>
          </c:dPt>
          <c:dPt>
            <c:idx val="4"/>
            <c:invertIfNegative val="0"/>
            <c:bubble3D val="0"/>
            <c:spPr>
              <a:solidFill>
                <a:srgbClr val="0B1F3A"/>
              </a:solidFill>
              <a:effectLst/>
            </c:spPr>
            <c:extLst>
              <c:ext xmlns:c16="http://schemas.microsoft.com/office/drawing/2014/chart" uri="{C3380CC4-5D6E-409C-BE32-E72D297353CC}">
                <c16:uniqueId val="{00000009-D48F-4FF8-B199-C1AD412C1D32}"/>
              </c:ext>
            </c:extLst>
          </c:dPt>
          <c:dPt>
            <c:idx val="5"/>
            <c:invertIfNegative val="0"/>
            <c:bubble3D val="0"/>
            <c:spPr>
              <a:solidFill>
                <a:srgbClr val="0B1F3A"/>
              </a:solidFill>
              <a:effectLst/>
            </c:spPr>
            <c:extLst>
              <c:ext xmlns:c16="http://schemas.microsoft.com/office/drawing/2014/chart" uri="{C3380CC4-5D6E-409C-BE32-E72D297353CC}">
                <c16:uniqueId val="{0000000B-D48F-4FF8-B199-C1AD412C1D32}"/>
              </c:ext>
            </c:extLst>
          </c:dPt>
          <c:dPt>
            <c:idx val="6"/>
            <c:invertIfNegative val="0"/>
            <c:bubble3D val="0"/>
            <c:extLst>
              <c:ext xmlns:c16="http://schemas.microsoft.com/office/drawing/2014/chart" uri="{C3380CC4-5D6E-409C-BE32-E72D297353CC}">
                <c16:uniqueId val="{0000000D-D48F-4FF8-B199-C1AD412C1D32}"/>
              </c:ext>
            </c:extLst>
          </c:dPt>
          <c:dPt>
            <c:idx val="7"/>
            <c:invertIfNegative val="0"/>
            <c:bubble3D val="0"/>
            <c:extLst>
              <c:ext xmlns:c16="http://schemas.microsoft.com/office/drawing/2014/chart" uri="{C3380CC4-5D6E-409C-BE32-E72D297353CC}">
                <c16:uniqueId val="{0000000F-D48F-4FF8-B199-C1AD412C1D32}"/>
              </c:ext>
            </c:extLst>
          </c:dPt>
          <c:dPt>
            <c:idx val="8"/>
            <c:invertIfNegative val="0"/>
            <c:bubble3D val="0"/>
            <c:extLst>
              <c:ext xmlns:c16="http://schemas.microsoft.com/office/drawing/2014/chart" uri="{C3380CC4-5D6E-409C-BE32-E72D297353CC}">
                <c16:uniqueId val="{00000011-D48F-4FF8-B199-C1AD412C1D32}"/>
              </c:ext>
            </c:extLst>
          </c:dPt>
          <c:dPt>
            <c:idx val="9"/>
            <c:invertIfNegative val="0"/>
            <c:bubble3D val="0"/>
            <c:extLst>
              <c:ext xmlns:c16="http://schemas.microsoft.com/office/drawing/2014/chart" uri="{C3380CC4-5D6E-409C-BE32-E72D297353CC}">
                <c16:uniqueId val="{00000013-D48F-4FF8-B199-C1AD412C1D32}"/>
              </c:ext>
            </c:extLst>
          </c:dPt>
          <c:dPt>
            <c:idx val="10"/>
            <c:invertIfNegative val="0"/>
            <c:bubble3D val="0"/>
            <c:extLst>
              <c:ext xmlns:c16="http://schemas.microsoft.com/office/drawing/2014/chart" uri="{C3380CC4-5D6E-409C-BE32-E72D297353CC}">
                <c16:uniqueId val="{00000015-D48F-4FF8-B199-C1AD412C1D32}"/>
              </c:ext>
            </c:extLst>
          </c:dPt>
          <c:dPt>
            <c:idx val="11"/>
            <c:invertIfNegative val="0"/>
            <c:bubble3D val="0"/>
            <c:extLst>
              <c:ext xmlns:c16="http://schemas.microsoft.com/office/drawing/2014/chart" uri="{C3380CC4-5D6E-409C-BE32-E72D297353CC}">
                <c16:uniqueId val="{00000017-D48F-4FF8-B199-C1AD412C1D32}"/>
              </c:ext>
            </c:extLst>
          </c:dPt>
          <c:dPt>
            <c:idx val="12"/>
            <c:invertIfNegative val="0"/>
            <c:bubble3D val="0"/>
            <c:spPr>
              <a:solidFill>
                <a:srgbClr val="0B1F3A"/>
              </a:solidFill>
              <a:effectLst/>
            </c:spPr>
            <c:extLst>
              <c:ext xmlns:c16="http://schemas.microsoft.com/office/drawing/2014/chart" uri="{C3380CC4-5D6E-409C-BE32-E72D297353CC}">
                <c16:uniqueId val="{00000019-D48F-4FF8-B199-C1AD412C1D32}"/>
              </c:ext>
            </c:extLst>
          </c:dPt>
          <c:dPt>
            <c:idx val="13"/>
            <c:invertIfNegative val="0"/>
            <c:bubble3D val="0"/>
            <c:extLst>
              <c:ext xmlns:c16="http://schemas.microsoft.com/office/drawing/2014/chart" uri="{C3380CC4-5D6E-409C-BE32-E72D297353CC}">
                <c16:uniqueId val="{0000001B-D48F-4FF8-B199-C1AD412C1D32}"/>
              </c:ext>
            </c:extLst>
          </c:dPt>
          <c:dPt>
            <c:idx val="14"/>
            <c:invertIfNegative val="0"/>
            <c:bubble3D val="0"/>
            <c:extLst>
              <c:ext xmlns:c16="http://schemas.microsoft.com/office/drawing/2014/chart" uri="{C3380CC4-5D6E-409C-BE32-E72D297353CC}">
                <c16:uniqueId val="{0000001D-D48F-4FF8-B199-C1AD412C1D32}"/>
              </c:ext>
            </c:extLst>
          </c:dPt>
          <c:dPt>
            <c:idx val="15"/>
            <c:invertIfNegative val="0"/>
            <c:bubble3D val="0"/>
            <c:extLst>
              <c:ext xmlns:c16="http://schemas.microsoft.com/office/drawing/2014/chart" uri="{C3380CC4-5D6E-409C-BE32-E72D297353CC}">
                <c16:uniqueId val="{0000001F-D48F-4FF8-B199-C1AD412C1D32}"/>
              </c:ext>
            </c:extLst>
          </c:dPt>
          <c:dPt>
            <c:idx val="16"/>
            <c:invertIfNegative val="0"/>
            <c:bubble3D val="0"/>
            <c:extLst>
              <c:ext xmlns:c16="http://schemas.microsoft.com/office/drawing/2014/chart" uri="{C3380CC4-5D6E-409C-BE32-E72D297353CC}">
                <c16:uniqueId val="{00000021-D48F-4FF8-B199-C1AD412C1D32}"/>
              </c:ext>
            </c:extLst>
          </c:dPt>
          <c:dPt>
            <c:idx val="17"/>
            <c:invertIfNegative val="0"/>
            <c:bubble3D val="0"/>
            <c:extLst>
              <c:ext xmlns:c16="http://schemas.microsoft.com/office/drawing/2014/chart" uri="{C3380CC4-5D6E-409C-BE32-E72D297353CC}">
                <c16:uniqueId val="{00000023-D48F-4FF8-B199-C1AD412C1D32}"/>
              </c:ext>
            </c:extLst>
          </c:dPt>
          <c:dPt>
            <c:idx val="18"/>
            <c:invertIfNegative val="0"/>
            <c:bubble3D val="0"/>
            <c:extLst>
              <c:ext xmlns:c16="http://schemas.microsoft.com/office/drawing/2014/chart" uri="{C3380CC4-5D6E-409C-BE32-E72D297353CC}">
                <c16:uniqueId val="{00000025-D48F-4FF8-B199-C1AD412C1D32}"/>
              </c:ext>
            </c:extLst>
          </c:dPt>
          <c:dPt>
            <c:idx val="19"/>
            <c:invertIfNegative val="0"/>
            <c:bubble3D val="0"/>
            <c:extLst>
              <c:ext xmlns:c16="http://schemas.microsoft.com/office/drawing/2014/chart" uri="{C3380CC4-5D6E-409C-BE32-E72D297353CC}">
                <c16:uniqueId val="{00000027-D48F-4FF8-B199-C1AD412C1D32}"/>
              </c:ext>
            </c:extLst>
          </c:dPt>
          <c:dLbls>
            <c:numFmt formatCode="0.0" sourceLinked="0"/>
            <c:spPr>
              <a:noFill/>
              <a:ln>
                <a:noFill/>
              </a:ln>
              <a:effectLst/>
            </c:spPr>
            <c:txPr>
              <a:bodyPr/>
              <a:lstStyle/>
              <a:p>
                <a:pPr>
                  <a:defRPr sz="11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Sheet1!$A$2:$A$21</c:f>
              <c:strCache>
                <c:ptCount val="20"/>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strCache>
            </c:strRef>
          </c:cat>
          <c:val>
            <c:numRef>
              <c:f>Sheet1!$B$2:$B$21</c:f>
              <c:numCache>
                <c:formatCode>General</c:formatCode>
                <c:ptCount val="20"/>
                <c:pt idx="0">
                  <c:v>0.08</c:v>
                </c:pt>
                <c:pt idx="1">
                  <c:v>0.39</c:v>
                </c:pt>
                <c:pt idx="2">
                  <c:v>0.86</c:v>
                </c:pt>
                <c:pt idx="3">
                  <c:v>1.79</c:v>
                </c:pt>
                <c:pt idx="4">
                  <c:v>2.82</c:v>
                </c:pt>
                <c:pt idx="5">
                  <c:v>2.68</c:v>
                </c:pt>
                <c:pt idx="6">
                  <c:v>2.08</c:v>
                </c:pt>
                <c:pt idx="7">
                  <c:v>2.02</c:v>
                </c:pt>
                <c:pt idx="8">
                  <c:v>1.6</c:v>
                </c:pt>
                <c:pt idx="9">
                  <c:v>1.65</c:v>
                </c:pt>
                <c:pt idx="10">
                  <c:v>2.6</c:v>
                </c:pt>
                <c:pt idx="11">
                  <c:v>4.09</c:v>
                </c:pt>
                <c:pt idx="12">
                  <c:v>4.45</c:v>
                </c:pt>
                <c:pt idx="13">
                  <c:v>3.79</c:v>
                </c:pt>
                <c:pt idx="14">
                  <c:v>3.02</c:v>
                </c:pt>
                <c:pt idx="15">
                  <c:v>2.2200000000000002</c:v>
                </c:pt>
                <c:pt idx="16">
                  <c:v>1.3</c:v>
                </c:pt>
                <c:pt idx="17">
                  <c:v>0.59</c:v>
                </c:pt>
                <c:pt idx="18">
                  <c:v>0.23</c:v>
                </c:pt>
                <c:pt idx="19">
                  <c:v>0.01</c:v>
                </c:pt>
              </c:numCache>
            </c:numRef>
          </c:val>
          <c:extLst>
            <c:ext xmlns:c16="http://schemas.microsoft.com/office/drawing/2014/chart" uri="{C3380CC4-5D6E-409C-BE32-E72D297353CC}">
              <c16:uniqueId val="{00000028-D48F-4FF8-B199-C1AD412C1D32}"/>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title>
          <c:tx>
            <c:rich>
              <a:bodyPr/>
              <a:lstStyle/>
              <a:p>
                <a:pPr>
                  <a:defRPr sz="1100" b="0" i="0" u="none" strike="noStrike">
                    <a:solidFill>
                      <a:srgbClr val="64748B"/>
                    </a:solidFill>
                    <a:latin typeface="+mn-lt"/>
                  </a:defRPr>
                </a:pPr>
                <a:r>
                  <a:rPr lang="en-US" sz="1100" b="0" i="0" u="none" strike="noStrike">
                    <a:solidFill>
                      <a:srgbClr val="64748B"/>
                    </a:solidFill>
                    <a:latin typeface="+mn-lt"/>
                  </a:rPr>
                  <a:t>Hour of day (24-hour clock)</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0B1F3A"/>
                </a:solidFill>
                <a:latin typeface="+mn-lt"/>
              </a:defRPr>
            </a:pPr>
            <a:r>
              <a:rPr lang="en-US" sz="1200" b="1" i="0" u="none" strike="noStrike">
                <a:solidFill>
                  <a:srgbClr val="0B1F3A"/>
                </a:solidFill>
                <a:latin typeface="+mn-lt"/>
              </a:rPr>
              <a:t>Net revenue by order source (₹M)</a:t>
            </a:r>
          </a:p>
        </c:rich>
      </c:tx>
      <c:overlay val="0"/>
    </c:title>
    <c:autoTitleDeleted val="0"/>
    <c:plotArea>
      <c:layout/>
      <c:barChart>
        <c:barDir val="bar"/>
        <c:grouping val="clustered"/>
        <c:varyColors val="0"/>
        <c:ser>
          <c:idx val="0"/>
          <c:order val="0"/>
          <c:tx>
            <c:strRef>
              <c:f>Sheet1!$B$1</c:f>
              <c:strCache>
                <c:ptCount val="1"/>
                <c:pt idx="0">
                  <c:v>Net revenue (₹M)</c:v>
                </c:pt>
              </c:strCache>
            </c:strRef>
          </c:tx>
          <c:spPr>
            <a:solidFill>
              <a:srgbClr val="14B8A6"/>
            </a:solidFill>
            <a:effectLst/>
          </c:spPr>
          <c:invertIfNegative val="0"/>
          <c:dLbls>
            <c:numFmt formatCode="0.0" sourceLinked="0"/>
            <c:spPr>
              <a:noFill/>
              <a:ln>
                <a:noFill/>
              </a:ln>
              <a:effectLst/>
            </c:spPr>
            <c:txPr>
              <a:bodyPr/>
              <a:lstStyle/>
              <a:p>
                <a:pPr>
                  <a:defRPr sz="11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Zomato</c:v>
                </c:pt>
                <c:pt idx="1">
                  <c:v>Swiggy</c:v>
                </c:pt>
                <c:pt idx="2">
                  <c:v>Eatsure</c:v>
                </c:pt>
                <c:pt idx="3">
                  <c:v>Bulk Orders</c:v>
                </c:pt>
                <c:pt idx="4">
                  <c:v>IRCTC</c:v>
                </c:pt>
              </c:strCache>
            </c:strRef>
          </c:cat>
          <c:val>
            <c:numRef>
              <c:f>Sheet1!$B$2:$B$6</c:f>
              <c:numCache>
                <c:formatCode>General</c:formatCode>
                <c:ptCount val="5"/>
                <c:pt idx="0">
                  <c:v>18.079999999999998</c:v>
                </c:pt>
                <c:pt idx="1">
                  <c:v>14.23</c:v>
                </c:pt>
                <c:pt idx="2">
                  <c:v>4.5</c:v>
                </c:pt>
                <c:pt idx="3">
                  <c:v>0.41</c:v>
                </c:pt>
                <c:pt idx="4">
                  <c:v>0.28999999999999998</c:v>
                </c:pt>
              </c:numCache>
            </c:numRef>
          </c:val>
          <c:extLst>
            <c:ext xmlns:c16="http://schemas.microsoft.com/office/drawing/2014/chart" uri="{C3380CC4-5D6E-409C-BE32-E72D297353CC}">
              <c16:uniqueId val="{00000000-A585-4582-A3EB-342DF9BF4EA3}"/>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0B1F3A"/>
                </a:solidFill>
                <a:latin typeface="+mn-lt"/>
              </a:defRPr>
            </a:pPr>
            <a:r>
              <a:rPr lang="en-US" sz="1200" b="1" i="0" u="none" strike="noStrike">
                <a:solidFill>
                  <a:srgbClr val="0B1F3A"/>
                </a:solidFill>
                <a:latin typeface="+mn-lt"/>
              </a:rPr>
              <a:t>Discount as % of gross sales, by order source</a:t>
            </a:r>
          </a:p>
        </c:rich>
      </c:tx>
      <c:overlay val="0"/>
    </c:title>
    <c:autoTitleDeleted val="0"/>
    <c:plotArea>
      <c:layout/>
      <c:barChart>
        <c:barDir val="bar"/>
        <c:grouping val="clustered"/>
        <c:varyColors val="0"/>
        <c:ser>
          <c:idx val="0"/>
          <c:order val="0"/>
          <c:tx>
            <c:strRef>
              <c:f>Sheet1!$B$1</c:f>
              <c:strCache>
                <c:ptCount val="1"/>
                <c:pt idx="0">
                  <c:v>Discount % of gross sales</c:v>
                </c:pt>
              </c:strCache>
            </c:strRef>
          </c:tx>
          <c:spPr>
            <a:solidFill>
              <a:srgbClr val="F59E0B"/>
            </a:solidFill>
            <a:effectLst/>
          </c:spPr>
          <c:invertIfNegative val="0"/>
          <c:dLbls>
            <c:numFmt formatCode="0.0&quot;%&quot;" sourceLinked="0"/>
            <c:spPr>
              <a:noFill/>
              <a:ln>
                <a:noFill/>
              </a:ln>
              <a:effectLst/>
            </c:spPr>
            <c:txPr>
              <a:bodyPr/>
              <a:lstStyle/>
              <a:p>
                <a:pPr>
                  <a:defRPr sz="11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Eatsure</c:v>
                </c:pt>
                <c:pt idx="1">
                  <c:v>Magic Pin</c:v>
                </c:pt>
                <c:pt idx="2">
                  <c:v>Swiggy</c:v>
                </c:pt>
                <c:pt idx="3">
                  <c:v>Zomato</c:v>
                </c:pt>
                <c:pt idx="4">
                  <c:v>ONDC</c:v>
                </c:pt>
              </c:strCache>
            </c:strRef>
          </c:cat>
          <c:val>
            <c:numRef>
              <c:f>Sheet1!$B$2:$B$6</c:f>
              <c:numCache>
                <c:formatCode>General</c:formatCode>
                <c:ptCount val="5"/>
                <c:pt idx="0">
                  <c:v>42</c:v>
                </c:pt>
                <c:pt idx="1">
                  <c:v>36.200000000000003</c:v>
                </c:pt>
                <c:pt idx="2">
                  <c:v>22.8</c:v>
                </c:pt>
                <c:pt idx="3">
                  <c:v>22.7</c:v>
                </c:pt>
                <c:pt idx="4">
                  <c:v>21.9</c:v>
                </c:pt>
              </c:numCache>
            </c:numRef>
          </c:val>
          <c:extLst>
            <c:ext xmlns:c16="http://schemas.microsoft.com/office/drawing/2014/chart" uri="{C3380CC4-5D6E-409C-BE32-E72D297353CC}">
              <c16:uniqueId val="{00000000-AA68-4AE3-8D8F-E7A980A0633E}"/>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0B1F3A"/>
                </a:solidFill>
                <a:latin typeface="+mn-lt"/>
              </a:defRPr>
            </a:pPr>
            <a:r>
              <a:rPr lang="en-US" sz="1200" b="1" i="0" u="none" strike="noStrike">
                <a:solidFill>
                  <a:srgbClr val="0B1F3A"/>
                </a:solidFill>
                <a:latin typeface="+mn-lt"/>
              </a:rPr>
              <a:t>Cancellation rate by order source, top 10 cities (%)</a:t>
            </a:r>
          </a:p>
        </c:rich>
      </c:tx>
      <c:overlay val="0"/>
    </c:title>
    <c:autoTitleDeleted val="0"/>
    <c:plotArea>
      <c:layout/>
      <c:barChart>
        <c:barDir val="bar"/>
        <c:grouping val="clustered"/>
        <c:varyColors val="0"/>
        <c:ser>
          <c:idx val="0"/>
          <c:order val="0"/>
          <c:tx>
            <c:strRef>
              <c:f>Sheet1!$B$1</c:f>
              <c:strCache>
                <c:ptCount val="1"/>
                <c:pt idx="0">
                  <c:v>Cancellation rate (%)</c:v>
                </c:pt>
              </c:strCache>
            </c:strRef>
          </c:tx>
          <c:spPr>
            <a:solidFill>
              <a:srgbClr val="EF4444"/>
            </a:solidFill>
            <a:effectLst/>
          </c:spPr>
          <c:invertIfNegative val="0"/>
          <c:dLbls>
            <c:numFmt formatCode="0.0&quot;%&quot;" sourceLinked="0"/>
            <c:spPr>
              <a:noFill/>
              <a:ln>
                <a:noFill/>
              </a:ln>
              <a:effectLst/>
            </c:spPr>
            <c:txPr>
              <a:bodyPr/>
              <a:lstStyle/>
              <a:p>
                <a:pPr>
                  <a:defRPr sz="11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IRCTC</c:v>
                </c:pt>
                <c:pt idx="1">
                  <c:v>ONDC</c:v>
                </c:pt>
                <c:pt idx="2">
                  <c:v>Eatsure</c:v>
                </c:pt>
                <c:pt idx="3">
                  <c:v>Zomato</c:v>
                </c:pt>
                <c:pt idx="4">
                  <c:v>Swiggy</c:v>
                </c:pt>
              </c:strCache>
            </c:strRef>
          </c:cat>
          <c:val>
            <c:numRef>
              <c:f>Sheet1!$B$2:$B$6</c:f>
              <c:numCache>
                <c:formatCode>General</c:formatCode>
                <c:ptCount val="5"/>
                <c:pt idx="0">
                  <c:v>18.100000000000001</c:v>
                </c:pt>
                <c:pt idx="1">
                  <c:v>9.5</c:v>
                </c:pt>
                <c:pt idx="2">
                  <c:v>5.7</c:v>
                </c:pt>
                <c:pt idx="3">
                  <c:v>1.9</c:v>
                </c:pt>
                <c:pt idx="4">
                  <c:v>1.6</c:v>
                </c:pt>
              </c:numCache>
            </c:numRef>
          </c:val>
          <c:extLst>
            <c:ext xmlns:c16="http://schemas.microsoft.com/office/drawing/2014/chart" uri="{C3380CC4-5D6E-409C-BE32-E72D297353CC}">
              <c16:uniqueId val="{00000000-2330-4E48-B089-6177DC03E9A8}"/>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0B1F3A"/>
                </a:solidFill>
                <a:latin typeface="+mn-lt"/>
              </a:defRPr>
            </a:pPr>
            <a:r>
              <a:rPr lang="en-IN" sz="1200" b="1" i="0" u="none" strike="noStrike">
                <a:solidFill>
                  <a:srgbClr val="0B1F3A"/>
                </a:solidFill>
                <a:latin typeface="+mn-lt"/>
              </a:rPr>
              <a:t>Cancellation rate by hour (%)</a:t>
            </a:r>
          </a:p>
        </c:rich>
      </c:tx>
      <c:overlay val="0"/>
    </c:title>
    <c:autoTitleDeleted val="0"/>
    <c:plotArea>
      <c:layout/>
      <c:barChart>
        <c:barDir val="col"/>
        <c:grouping val="clustered"/>
        <c:varyColors val="0"/>
        <c:ser>
          <c:idx val="0"/>
          <c:order val="0"/>
          <c:tx>
            <c:strRef>
              <c:f>Sheet1!$B$1</c:f>
              <c:strCache>
                <c:ptCount val="1"/>
                <c:pt idx="0">
                  <c:v>Cancellation rate (%)</c:v>
                </c:pt>
              </c:strCache>
            </c:strRef>
          </c:tx>
          <c:spPr>
            <a:solidFill>
              <a:srgbClr val="EF4444"/>
            </a:solidFill>
            <a:effectLst/>
          </c:spPr>
          <c:invertIfNegative val="0"/>
          <c:dLbls>
            <c:numFmt formatCode="0.0" sourceLinked="0"/>
            <c:spPr>
              <a:noFill/>
              <a:ln>
                <a:noFill/>
              </a:ln>
              <a:effectLst/>
            </c:spPr>
            <c:txPr>
              <a:bodyPr/>
              <a:lstStyle/>
              <a:p>
                <a:pPr>
                  <a:defRPr sz="10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strCache>
            </c:strRef>
          </c:cat>
          <c:val>
            <c:numRef>
              <c:f>Sheet1!$B$2:$B$17</c:f>
              <c:numCache>
                <c:formatCode>General</c:formatCode>
                <c:ptCount val="16"/>
                <c:pt idx="0">
                  <c:v>4.45</c:v>
                </c:pt>
                <c:pt idx="1">
                  <c:v>2.39</c:v>
                </c:pt>
                <c:pt idx="2">
                  <c:v>2.0699999999999998</c:v>
                </c:pt>
                <c:pt idx="3">
                  <c:v>2.2599999999999998</c:v>
                </c:pt>
                <c:pt idx="4">
                  <c:v>2.35</c:v>
                </c:pt>
                <c:pt idx="5">
                  <c:v>2.73</c:v>
                </c:pt>
                <c:pt idx="6">
                  <c:v>2.58</c:v>
                </c:pt>
                <c:pt idx="7">
                  <c:v>2.82</c:v>
                </c:pt>
                <c:pt idx="8">
                  <c:v>2.11</c:v>
                </c:pt>
                <c:pt idx="9">
                  <c:v>2.41</c:v>
                </c:pt>
                <c:pt idx="10">
                  <c:v>2.54</c:v>
                </c:pt>
                <c:pt idx="11">
                  <c:v>2.27</c:v>
                </c:pt>
                <c:pt idx="12">
                  <c:v>3.23</c:v>
                </c:pt>
                <c:pt idx="13">
                  <c:v>3.59</c:v>
                </c:pt>
                <c:pt idx="14">
                  <c:v>4.9000000000000004</c:v>
                </c:pt>
                <c:pt idx="15">
                  <c:v>4.5199999999999996</c:v>
                </c:pt>
              </c:numCache>
            </c:numRef>
          </c:val>
          <c:extLst>
            <c:ext xmlns:c16="http://schemas.microsoft.com/office/drawing/2014/chart" uri="{C3380CC4-5D6E-409C-BE32-E72D297353CC}">
              <c16:uniqueId val="{00000000-7F4C-481E-BC9E-DFC611162BB2}"/>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0B1F3A"/>
                </a:solidFill>
                <a:latin typeface="+mn-lt"/>
              </a:defRPr>
            </a:pPr>
            <a:r>
              <a:rPr lang="en-IN" sz="1200" b="1" i="0" u="none" strike="noStrike">
                <a:solidFill>
                  <a:srgbClr val="0B1F3A"/>
                </a:solidFill>
                <a:latin typeface="+mn-lt"/>
              </a:rPr>
              <a:t>Highest-cancelling stores (%)</a:t>
            </a:r>
          </a:p>
        </c:rich>
      </c:tx>
      <c:overlay val="0"/>
    </c:title>
    <c:autoTitleDeleted val="0"/>
    <c:plotArea>
      <c:layout/>
      <c:barChart>
        <c:barDir val="bar"/>
        <c:grouping val="clustered"/>
        <c:varyColors val="0"/>
        <c:ser>
          <c:idx val="0"/>
          <c:order val="0"/>
          <c:tx>
            <c:strRef>
              <c:f>Sheet1!$B$1</c:f>
              <c:strCache>
                <c:ptCount val="1"/>
                <c:pt idx="0">
                  <c:v>Cancellation rate (%)</c:v>
                </c:pt>
              </c:strCache>
            </c:strRef>
          </c:tx>
          <c:spPr>
            <a:solidFill>
              <a:srgbClr val="EF4444"/>
            </a:solidFill>
            <a:effectLst/>
          </c:spPr>
          <c:invertIfNegative val="0"/>
          <c:dLbls>
            <c:numFmt formatCode="0.0&quot;%&quot;" sourceLinked="0"/>
            <c:spPr>
              <a:noFill/>
              <a:ln>
                <a:noFill/>
              </a:ln>
              <a:effectLst/>
            </c:spPr>
            <c:txPr>
              <a:bodyPr/>
              <a:lstStyle/>
              <a:p>
                <a:pPr>
                  <a:defRPr sz="11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Salem</c:v>
                </c:pt>
                <c:pt idx="1">
                  <c:v>Paschim Vihar</c:v>
                </c:pt>
                <c:pt idx="2">
                  <c:v>Anisabad</c:v>
                </c:pt>
                <c:pt idx="3">
                  <c:v>Solapur</c:v>
                </c:pt>
                <c:pt idx="4">
                  <c:v>Amritsar cantt</c:v>
                </c:pt>
              </c:strCache>
            </c:strRef>
          </c:cat>
          <c:val>
            <c:numRef>
              <c:f>Sheet1!$B$2:$B$6</c:f>
              <c:numCache>
                <c:formatCode>General</c:formatCode>
                <c:ptCount val="5"/>
                <c:pt idx="0">
                  <c:v>17.600000000000001</c:v>
                </c:pt>
                <c:pt idx="1">
                  <c:v>10.9</c:v>
                </c:pt>
                <c:pt idx="2">
                  <c:v>9.6</c:v>
                </c:pt>
                <c:pt idx="3">
                  <c:v>8.8000000000000007</c:v>
                </c:pt>
                <c:pt idx="4">
                  <c:v>8.4</c:v>
                </c:pt>
              </c:numCache>
            </c:numRef>
          </c:val>
          <c:extLst>
            <c:ext xmlns:c16="http://schemas.microsoft.com/office/drawing/2014/chart" uri="{C3380CC4-5D6E-409C-BE32-E72D297353CC}">
              <c16:uniqueId val="{00000000-FB75-4585-9F6F-E8A6A06C8767}"/>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9116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an end-to-end analysis of a multi-brand cloud kitchen network, from raw Excel to a three-page Power BI dashboard. Say that this deck covers the insights and recommendations, and that a separate case study document covers the technical build.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The data is one full trading day from a network of cloud kitchens. Orders come through aggregators such as Zomato and Swiggy, through Eatsure, and through a few smaller channels. The question for the analysis: where does the revenue come from, where does it leak, and what should the network do about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The raw sheet had 123,141 rows and 39 columns. I cleaned it in Python with Pandas, removed 8 duplicate rows, dropped two empty columns, fixed mixed date formats and standardised the coupon text. Then I split it into a star schema with one fact table and four dimensions, and built DAX measures and the dashboard in Power BI.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numbers on the executive page. Net revenue is the net amount of delivered orders. Cancellation rate is cancelled orders as a share of all orders placed. The bridge at the bottom shows that of ₹51.4M gross sales, ₹13.1M went out as discounts, leaving ₹38.3M.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builds from 6 AM, peaks at 7 and 8 AM, dips at 11 AM and noon, then climbs to the biggest hour at 3 PM with ₹4.5M. After 7 PM revenue falls away and the evening hours together contribute only 5.6 percent. That drop is worth confirming with the operations team: it may be real demand, or it may be how the data was captured.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Zomato and Swiggy together bring about 84 percent of net revenue; Eatsure is a distant third. On the brand side the top 10 of 51 brands make 83.8 percent of revenue, while the top 10 of 409 stores make only 6.1 percent. The brand scorecard on the third dashboard page lists 12 brands, and those 12 together make 88.8 percent. So the business depends on a few channels and brands, but not on any single store.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quarter of gross sales, ₹13.1M, was given away as discounts. Eatsure discounts 42 percent and Magic Pin 36 percent, against roughly 23 percent on Zomato and Swiggy. Among the brands in the scorecard, Honest Bowl discounts 40.7 percent while Behrouz Biryani discounts only 15.7 percent. Flat-amount coupons go with very large carts, around ₹860 on average, so they do not by themselves prove that coupons raise basket size.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uses the same scope as the dashboard matrix: the top 10 cities and five channels. The cancellation rate barely changes from city to city, between 1.6 and 3.5 percent, but changes a lot by channel: IRCTC 18.1 percent, ONDC 9.5 percent and Eatsure 5.7 percent, against about 2 percent for Zomato and Swiggy. IRCTC and ONDC have few orders here, so treat those two rates as indicative. Across all cities the picture is the same: IRCTC 14.6, ONDC 8.1, Eatsure 6.0, Zomato 2.1 and Swiggy 1.9 percent. In total 3,404 orders were cancelled, which cost about ₹1.07M of revenue, and 52.5 percent of cancellations are labelled Third Party Cancellation.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Cancellation rate is about 2 to 3 percent through the day, but rises to 4.5 percent at 5 AM and to nearly 5 percent at 7 PM. Delivery orders cancel at 6.3 percent against 1.9 percent for pickup. Among stores with at least 100 orders, Salem is the clear outlier at 17.6 percent, followed by Paschim Vihar, Anisabad, Solapur and Amritsar cantt. These are the first stores to audit.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links to one finding. One: review Eatsure discount depth. Two: raise third-party cancellations with the aggregators. Three: audit the five highest-cancelling stores. Four: make sure kitchens are staffed for the 7 AM and 3 PM peaks and watch the evening hours. Five: keep tracking IRCTC and ONDC on larger volumes before acting.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The data is a single trading day, so there is no month-on-month or year-on-year view, although the DAX for those is already written. There is no customer ID, so no churn or repeat analysis, and no item or cost data, so no margin view. The evening drop after 7 PM should be checked against the source system. Next steps are to load more months, add customer and cost fields, and automate the pipeline.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summarising the three messages: revenue is concentrated in two channels and a few brands, discounts are deepest on Eatsure, and cancellations follow the channel more than the city.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5669280" cy="15544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2926080"/>
            <a:ext cx="5486400" cy="82296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rtlCol="0"/>
          <a:lstStyle>
            <a:lvl1pPr marL="0" indent="0" algn="l">
              <a:buNone/>
              <a:defRPr lang="en-US" sz="1600" dirty="0">
                <a:solidFill>
                  <a:schemeClr val="accent5"/>
                </a:solidFill>
              </a:defRPr>
            </a:lvl1pPr>
          </a:lstStyle>
          <a:p>
            <a:pPr marL="0" indent="0" algn="l">
              <a:buNone/>
            </a:pPr>
            <a:endParaRPr lang="en-US" sz="1600" dirty="0"/>
          </a:p>
        </p:txBody>
      </p:sp>
      <p:sp>
        <p:nvSpPr>
          <p:cNvPr id="4" name="Text 0"/>
          <p:cNvSpPr/>
          <p:nvPr/>
        </p:nvSpPr>
        <p:spPr>
          <a:xfrm>
            <a:off x="457200" y="4818888"/>
            <a:ext cx="5486400" cy="228600"/>
          </a:xfrm>
          <a:prstGeom prst="rect">
            <a:avLst/>
          </a:prstGeom>
          <a:noFill/>
          <a:ln/>
        </p:spPr>
        <p:txBody>
          <a:bodyPr wrap="square" lIns="0" tIns="0" rIns="0" bIns="0" rtlCol="0" anchor="ctr"/>
          <a:lstStyle/>
          <a:p>
            <a:pPr marL="0" indent="0">
              <a:buNone/>
            </a:pPr>
            <a:r>
              <a:rPr lang="en-US" sz="1000" dirty="0">
                <a:solidFill>
                  <a:schemeClr val="accent5"/>
                </a:solidFill>
              </a:rPr>
              <a:t>Cloud Kitchen Performance Dashboard  |  Saad Ansari</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1F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786384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640080" y="2788920"/>
            <a:ext cx="7863840" cy="91440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5669280" cy="1554480"/>
          </a:xfrm>
          <a:prstGeom prst="rect">
            <a:avLst/>
          </a:prstGeom>
          <a:noFill/>
          <a:ln/>
        </p:spPr>
        <p:txBody>
          <a:bodyPr wrap="square" lIns="0" tIns="0" rIns="0" bIns="0" rtlCol="0" anchor="b"/>
          <a:lstStyle/>
          <a:p>
            <a:pPr marL="0" indent="0" algn="l">
              <a:buNone/>
            </a:pPr>
            <a:r>
              <a:rPr lang="en-US" sz="4000" b="1" dirty="0">
                <a:solidFill>
                  <a:schemeClr val="bg1"/>
                </a:solidFill>
              </a:rPr>
              <a:t>Cloud Kitchen Performance Dashboard</a:t>
            </a:r>
            <a:endParaRPr lang="en-US" sz="4000" dirty="0"/>
          </a:p>
        </p:txBody>
      </p:sp>
      <p:sp>
        <p:nvSpPr>
          <p:cNvPr id="3" name="Text 0"/>
          <p:cNvSpPr>
            <a:spLocks noGrp="1"/>
          </p:cNvSpPr>
          <p:nvPr>
            <p:ph type="body" idx="101" hasCustomPrompt="1"/>
          </p:nvPr>
        </p:nvSpPr>
        <p:spPr>
          <a:xfrm>
            <a:off x="640080" y="2926080"/>
            <a:ext cx="5486400" cy="822960"/>
          </a:xfrm>
          <a:prstGeom prst="rect">
            <a:avLst/>
          </a:prstGeom>
          <a:noFill/>
          <a:ln/>
        </p:spPr>
        <p:txBody>
          <a:bodyPr wrap="square" lIns="0" tIns="0" rIns="0" bIns="0" rtlCol="0" anchor="t"/>
          <a:lstStyle/>
          <a:p>
            <a:pPr marL="0" indent="0" algn="l">
              <a:buNone/>
            </a:pPr>
            <a:r>
              <a:rPr lang="en-US" sz="1800" dirty="0">
                <a:solidFill>
                  <a:schemeClr val="bg2"/>
                </a:solidFill>
              </a:rPr>
              <a:t>What 1.23 lakh orders from one trading day (22 Jan 2026) tell us about revenue, discounts and cancellations</a:t>
            </a:r>
            <a:endParaRPr lang="en-US" sz="1800" dirty="0"/>
          </a:p>
        </p:txBody>
      </p:sp>
      <p:sp>
        <p:nvSpPr>
          <p:cNvPr id="4" name="Decor circle"/>
          <p:cNvSpPr/>
          <p:nvPr/>
        </p:nvSpPr>
        <p:spPr>
          <a:xfrm>
            <a:off x="6400800" y="548640"/>
            <a:ext cx="2377440" cy="2377440"/>
          </a:xfrm>
          <a:prstGeom prst="ellipse">
            <a:avLst/>
          </a:prstGeom>
          <a:solidFill>
            <a:srgbClr val="14B8A6">
              <a:alpha val="22000"/>
            </a:srgbClr>
          </a:solidFill>
          <a:ln w="12700">
            <a:solidFill>
              <a:srgbClr val="14B8A6"/>
            </a:solidFill>
            <a:prstDash val="solid"/>
          </a:ln>
        </p:spPr>
      </p:sp>
      <p:sp>
        <p:nvSpPr>
          <p:cNvPr id="5" name="Decor circle"/>
          <p:cNvSpPr/>
          <p:nvPr/>
        </p:nvSpPr>
        <p:spPr>
          <a:xfrm>
            <a:off x="7406640" y="2194560"/>
            <a:ext cx="1737360" cy="1737360"/>
          </a:xfrm>
          <a:prstGeom prst="ellipse">
            <a:avLst/>
          </a:prstGeom>
          <a:solidFill>
            <a:srgbClr val="14B8A6">
              <a:alpha val="40000"/>
            </a:srgbClr>
          </a:solidFill>
          <a:ln w="12700">
            <a:solidFill>
              <a:srgbClr val="14B8A6"/>
            </a:solidFill>
            <a:prstDash val="solid"/>
          </a:ln>
        </p:spPr>
      </p:sp>
      <p:sp>
        <p:nvSpPr>
          <p:cNvPr id="6" name="Decor circle"/>
          <p:cNvSpPr/>
          <p:nvPr/>
        </p:nvSpPr>
        <p:spPr>
          <a:xfrm>
            <a:off x="6126480" y="3108960"/>
            <a:ext cx="1371600" cy="1371600"/>
          </a:xfrm>
          <a:prstGeom prst="ellipse">
            <a:avLst/>
          </a:prstGeom>
          <a:solidFill>
            <a:srgbClr val="14B8A6">
              <a:alpha val="30000"/>
            </a:srgbClr>
          </a:solidFill>
          <a:ln w="12700">
            <a:solidFill>
              <a:srgbClr val="14B8A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The business and the question</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A multi-brand cloud kitchen network selling through delivery apps</a:t>
            </a:r>
            <a:endParaRPr lang="en-US" sz="1600" dirty="0"/>
          </a:p>
        </p:txBody>
      </p:sp>
      <p:sp>
        <p:nvSpPr>
          <p:cNvPr id="5" name="Context stat 1 card"/>
          <p:cNvSpPr/>
          <p:nvPr/>
        </p:nvSpPr>
        <p:spPr>
          <a:xfrm>
            <a:off x="457200" y="1645920"/>
            <a:ext cx="1920240" cy="1417320"/>
          </a:xfrm>
          <a:prstGeom prst="roundRect">
            <a:avLst>
              <a:gd name="adj" fmla="val 7742"/>
            </a:avLst>
          </a:prstGeom>
          <a:solidFill>
            <a:srgbClr val="F1F5F9"/>
          </a:solidFill>
          <a:ln w="12700">
            <a:solidFill>
              <a:srgbClr val="F1F5F9"/>
            </a:solidFill>
            <a:prstDash val="solid"/>
          </a:ln>
        </p:spPr>
      </p:sp>
      <p:sp>
        <p:nvSpPr>
          <p:cNvPr id="6" name="Context stat 1 value"/>
          <p:cNvSpPr txBox="1"/>
          <p:nvPr/>
        </p:nvSpPr>
        <p:spPr>
          <a:xfrm>
            <a:off x="594360" y="1737360"/>
            <a:ext cx="1645920" cy="637794"/>
          </a:xfrm>
          <a:prstGeom prst="rect">
            <a:avLst/>
          </a:prstGeom>
          <a:noFill/>
          <a:ln/>
        </p:spPr>
        <p:txBody>
          <a:bodyPr wrap="square" lIns="0" tIns="0" rIns="0" bIns="0" rtlCol="0" anchor="ctr"/>
          <a:lstStyle/>
          <a:p>
            <a:pPr marL="0" indent="0" algn="l">
              <a:buNone/>
            </a:pPr>
            <a:r>
              <a:rPr lang="en-US" sz="3000" b="1" dirty="0">
                <a:solidFill>
                  <a:srgbClr val="0B1F3A"/>
                </a:solidFill>
              </a:rPr>
              <a:t>51</a:t>
            </a:r>
            <a:endParaRPr lang="en-US" sz="3000" dirty="0"/>
          </a:p>
        </p:txBody>
      </p:sp>
      <p:sp>
        <p:nvSpPr>
          <p:cNvPr id="7" name="Context stat 1 label"/>
          <p:cNvSpPr txBox="1"/>
          <p:nvPr/>
        </p:nvSpPr>
        <p:spPr>
          <a:xfrm>
            <a:off x="594360" y="2393442"/>
            <a:ext cx="1645920" cy="596646"/>
          </a:xfrm>
          <a:prstGeom prst="rect">
            <a:avLst/>
          </a:prstGeom>
          <a:noFill/>
          <a:ln/>
        </p:spPr>
        <p:txBody>
          <a:bodyPr wrap="square" lIns="0" tIns="0" rIns="0" bIns="0" rtlCol="0" anchor="t"/>
          <a:lstStyle/>
          <a:p>
            <a:pPr marL="0" indent="0" algn="l">
              <a:buNone/>
            </a:pPr>
            <a:r>
              <a:rPr lang="en-US" sz="1600" dirty="0">
                <a:solidFill>
                  <a:srgbClr val="64748B"/>
                </a:solidFill>
              </a:rPr>
              <a:t>brands</a:t>
            </a:r>
            <a:endParaRPr lang="en-US" sz="1600" dirty="0"/>
          </a:p>
        </p:txBody>
      </p:sp>
      <p:sp>
        <p:nvSpPr>
          <p:cNvPr id="8" name="Context stat 2 card"/>
          <p:cNvSpPr/>
          <p:nvPr/>
        </p:nvSpPr>
        <p:spPr>
          <a:xfrm>
            <a:off x="2560320" y="1645920"/>
            <a:ext cx="1920240" cy="1417320"/>
          </a:xfrm>
          <a:prstGeom prst="roundRect">
            <a:avLst>
              <a:gd name="adj" fmla="val 7742"/>
            </a:avLst>
          </a:prstGeom>
          <a:solidFill>
            <a:srgbClr val="F1F5F9"/>
          </a:solidFill>
          <a:ln w="12700">
            <a:solidFill>
              <a:srgbClr val="F1F5F9"/>
            </a:solidFill>
            <a:prstDash val="solid"/>
          </a:ln>
        </p:spPr>
      </p:sp>
      <p:sp>
        <p:nvSpPr>
          <p:cNvPr id="9" name="Context stat 2 value"/>
          <p:cNvSpPr txBox="1"/>
          <p:nvPr/>
        </p:nvSpPr>
        <p:spPr>
          <a:xfrm>
            <a:off x="2697480" y="1737360"/>
            <a:ext cx="1645920" cy="637794"/>
          </a:xfrm>
          <a:prstGeom prst="rect">
            <a:avLst/>
          </a:prstGeom>
          <a:noFill/>
          <a:ln/>
        </p:spPr>
        <p:txBody>
          <a:bodyPr wrap="square" lIns="0" tIns="0" rIns="0" bIns="0" rtlCol="0" anchor="ctr"/>
          <a:lstStyle/>
          <a:p>
            <a:pPr marL="0" indent="0" algn="l">
              <a:buNone/>
            </a:pPr>
            <a:r>
              <a:rPr lang="en-US" sz="3000" b="1" dirty="0">
                <a:solidFill>
                  <a:srgbClr val="0B1F3A"/>
                </a:solidFill>
              </a:rPr>
              <a:t>409</a:t>
            </a:r>
            <a:endParaRPr lang="en-US" sz="3000" dirty="0"/>
          </a:p>
        </p:txBody>
      </p:sp>
      <p:sp>
        <p:nvSpPr>
          <p:cNvPr id="10" name="Context stat 2 label"/>
          <p:cNvSpPr txBox="1"/>
          <p:nvPr/>
        </p:nvSpPr>
        <p:spPr>
          <a:xfrm>
            <a:off x="2697480" y="2393442"/>
            <a:ext cx="1645920" cy="596646"/>
          </a:xfrm>
          <a:prstGeom prst="rect">
            <a:avLst/>
          </a:prstGeom>
          <a:noFill/>
          <a:ln/>
        </p:spPr>
        <p:txBody>
          <a:bodyPr wrap="square" lIns="0" tIns="0" rIns="0" bIns="0" rtlCol="0" anchor="t"/>
          <a:lstStyle/>
          <a:p>
            <a:pPr marL="0" indent="0" algn="l">
              <a:buNone/>
            </a:pPr>
            <a:r>
              <a:rPr lang="en-US" sz="1600" dirty="0">
                <a:solidFill>
                  <a:srgbClr val="64748B"/>
                </a:solidFill>
              </a:rPr>
              <a:t>stores</a:t>
            </a:r>
            <a:endParaRPr lang="en-US" sz="1600" dirty="0"/>
          </a:p>
        </p:txBody>
      </p:sp>
      <p:sp>
        <p:nvSpPr>
          <p:cNvPr id="11" name="Context stat 3 card"/>
          <p:cNvSpPr/>
          <p:nvPr/>
        </p:nvSpPr>
        <p:spPr>
          <a:xfrm>
            <a:off x="4663440" y="1645920"/>
            <a:ext cx="1920240" cy="1417320"/>
          </a:xfrm>
          <a:prstGeom prst="roundRect">
            <a:avLst>
              <a:gd name="adj" fmla="val 7742"/>
            </a:avLst>
          </a:prstGeom>
          <a:solidFill>
            <a:srgbClr val="F1F5F9"/>
          </a:solidFill>
          <a:ln w="12700">
            <a:solidFill>
              <a:srgbClr val="F1F5F9"/>
            </a:solidFill>
            <a:prstDash val="solid"/>
          </a:ln>
        </p:spPr>
      </p:sp>
      <p:sp>
        <p:nvSpPr>
          <p:cNvPr id="12" name="Context stat 3 value"/>
          <p:cNvSpPr txBox="1"/>
          <p:nvPr/>
        </p:nvSpPr>
        <p:spPr>
          <a:xfrm>
            <a:off x="4800600" y="1737360"/>
            <a:ext cx="1645920" cy="637794"/>
          </a:xfrm>
          <a:prstGeom prst="rect">
            <a:avLst/>
          </a:prstGeom>
          <a:noFill/>
          <a:ln/>
        </p:spPr>
        <p:txBody>
          <a:bodyPr wrap="square" lIns="0" tIns="0" rIns="0" bIns="0" rtlCol="0" anchor="ctr"/>
          <a:lstStyle/>
          <a:p>
            <a:pPr marL="0" indent="0" algn="l">
              <a:buNone/>
            </a:pPr>
            <a:r>
              <a:rPr lang="en-US" sz="3000" b="1" dirty="0">
                <a:solidFill>
                  <a:srgbClr val="0B1F3A"/>
                </a:solidFill>
              </a:rPr>
              <a:t>115</a:t>
            </a:r>
            <a:endParaRPr lang="en-US" sz="3000" dirty="0"/>
          </a:p>
        </p:txBody>
      </p:sp>
      <p:sp>
        <p:nvSpPr>
          <p:cNvPr id="13" name="Context stat 3 label"/>
          <p:cNvSpPr txBox="1"/>
          <p:nvPr/>
        </p:nvSpPr>
        <p:spPr>
          <a:xfrm>
            <a:off x="4800600" y="2393442"/>
            <a:ext cx="1645920" cy="596646"/>
          </a:xfrm>
          <a:prstGeom prst="rect">
            <a:avLst/>
          </a:prstGeom>
          <a:noFill/>
          <a:ln/>
        </p:spPr>
        <p:txBody>
          <a:bodyPr wrap="square" lIns="0" tIns="0" rIns="0" bIns="0" rtlCol="0" anchor="t"/>
          <a:lstStyle/>
          <a:p>
            <a:pPr marL="0" indent="0" algn="l">
              <a:buNone/>
            </a:pPr>
            <a:r>
              <a:rPr lang="en-US" sz="1600" dirty="0">
                <a:solidFill>
                  <a:srgbClr val="64748B"/>
                </a:solidFill>
              </a:rPr>
              <a:t>cities</a:t>
            </a:r>
            <a:endParaRPr lang="en-US" sz="1600" dirty="0"/>
          </a:p>
        </p:txBody>
      </p:sp>
      <p:sp>
        <p:nvSpPr>
          <p:cNvPr id="14" name="Context stat 4 card"/>
          <p:cNvSpPr/>
          <p:nvPr/>
        </p:nvSpPr>
        <p:spPr>
          <a:xfrm>
            <a:off x="6766560" y="1645920"/>
            <a:ext cx="1920240" cy="1417320"/>
          </a:xfrm>
          <a:prstGeom prst="roundRect">
            <a:avLst>
              <a:gd name="adj" fmla="val 7742"/>
            </a:avLst>
          </a:prstGeom>
          <a:solidFill>
            <a:srgbClr val="F1F5F9"/>
          </a:solidFill>
          <a:ln w="12700">
            <a:solidFill>
              <a:srgbClr val="F1F5F9"/>
            </a:solidFill>
            <a:prstDash val="solid"/>
          </a:ln>
        </p:spPr>
      </p:sp>
      <p:sp>
        <p:nvSpPr>
          <p:cNvPr id="15" name="Context stat 4 value"/>
          <p:cNvSpPr txBox="1"/>
          <p:nvPr/>
        </p:nvSpPr>
        <p:spPr>
          <a:xfrm>
            <a:off x="6903720" y="1737360"/>
            <a:ext cx="1645920" cy="637794"/>
          </a:xfrm>
          <a:prstGeom prst="rect">
            <a:avLst/>
          </a:prstGeom>
          <a:noFill/>
          <a:ln/>
        </p:spPr>
        <p:txBody>
          <a:bodyPr wrap="square" lIns="0" tIns="0" rIns="0" bIns="0" rtlCol="0" anchor="ctr"/>
          <a:lstStyle/>
          <a:p>
            <a:pPr marL="0" indent="0" algn="l">
              <a:buNone/>
            </a:pPr>
            <a:r>
              <a:rPr lang="en-US" sz="3000" b="1" dirty="0">
                <a:solidFill>
                  <a:srgbClr val="0B1F3A"/>
                </a:solidFill>
              </a:rPr>
              <a:t>1.23 lakh</a:t>
            </a:r>
            <a:endParaRPr lang="en-US" sz="3000" dirty="0"/>
          </a:p>
        </p:txBody>
      </p:sp>
      <p:sp>
        <p:nvSpPr>
          <p:cNvPr id="16" name="Context stat 4 label"/>
          <p:cNvSpPr txBox="1"/>
          <p:nvPr/>
        </p:nvSpPr>
        <p:spPr>
          <a:xfrm>
            <a:off x="6903720" y="2393442"/>
            <a:ext cx="1645920" cy="596646"/>
          </a:xfrm>
          <a:prstGeom prst="rect">
            <a:avLst/>
          </a:prstGeom>
          <a:noFill/>
          <a:ln/>
        </p:spPr>
        <p:txBody>
          <a:bodyPr wrap="square" lIns="0" tIns="0" rIns="0" bIns="0" rtlCol="0" anchor="t"/>
          <a:lstStyle/>
          <a:p>
            <a:pPr marL="0" indent="0" algn="l">
              <a:buNone/>
            </a:pPr>
            <a:r>
              <a:rPr lang="en-US" sz="1600" dirty="0">
                <a:solidFill>
                  <a:srgbClr val="64748B"/>
                </a:solidFill>
              </a:rPr>
              <a:t>orders in one day</a:t>
            </a:r>
            <a:endParaRPr lang="en-US" sz="1600" dirty="0"/>
          </a:p>
        </p:txBody>
      </p:sp>
      <p:sp>
        <p:nvSpPr>
          <p:cNvPr id="17" name="Question box"/>
          <p:cNvSpPr/>
          <p:nvPr/>
        </p:nvSpPr>
        <p:spPr>
          <a:xfrm>
            <a:off x="457200" y="3337560"/>
            <a:ext cx="8229600" cy="1188720"/>
          </a:xfrm>
          <a:prstGeom prst="roundRect">
            <a:avLst>
              <a:gd name="adj" fmla="val 9231"/>
            </a:avLst>
          </a:prstGeom>
          <a:solidFill>
            <a:srgbClr val="0B1F3A"/>
          </a:solidFill>
          <a:ln w="12700">
            <a:solidFill>
              <a:srgbClr val="0B1F3A"/>
            </a:solidFill>
            <a:prstDash val="solid"/>
          </a:ln>
        </p:spPr>
      </p:sp>
      <p:sp>
        <p:nvSpPr>
          <p:cNvPr id="18" name="Question"/>
          <p:cNvSpPr txBox="1"/>
          <p:nvPr/>
        </p:nvSpPr>
        <p:spPr>
          <a:xfrm>
            <a:off x="731520" y="3429000"/>
            <a:ext cx="7680960" cy="1005840"/>
          </a:xfrm>
          <a:prstGeom prst="rect">
            <a:avLst/>
          </a:prstGeom>
          <a:noFill/>
          <a:ln/>
        </p:spPr>
        <p:txBody>
          <a:bodyPr wrap="square" lIns="0" tIns="0" rIns="0" bIns="0" rtlCol="0" anchor="ctr"/>
          <a:lstStyle/>
          <a:p>
            <a:pPr marL="0" indent="0">
              <a:buNone/>
            </a:pPr>
            <a:r>
              <a:rPr lang="en-US" sz="2200" dirty="0">
                <a:solidFill>
                  <a:srgbClr val="FFFFFF"/>
                </a:solidFill>
              </a:rPr>
              <a:t>Where did the revenue come from, where did it leak, and what should the network do about it?</a:t>
            </a:r>
            <a:endParaRPr lang="en-US" sz="2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How the data became a dashboard</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Four steps from a raw Excel sheet to three dashboard pages</a:t>
            </a:r>
            <a:endParaRPr lang="en-US" sz="1600" dirty="0"/>
          </a:p>
        </p:txBody>
      </p:sp>
      <p:sp>
        <p:nvSpPr>
          <p:cNvPr id="5" name="Step card 1"/>
          <p:cNvSpPr/>
          <p:nvPr/>
        </p:nvSpPr>
        <p:spPr>
          <a:xfrm>
            <a:off x="457200" y="1600200"/>
            <a:ext cx="1828800" cy="2240280"/>
          </a:xfrm>
          <a:prstGeom prst="roundRect">
            <a:avLst>
              <a:gd name="adj" fmla="val 6000"/>
            </a:avLst>
          </a:prstGeom>
          <a:solidFill>
            <a:srgbClr val="F1F5F9"/>
          </a:solidFill>
          <a:ln w="12700">
            <a:solidFill>
              <a:srgbClr val="F1F5F9"/>
            </a:solidFill>
            <a:prstDash val="solid"/>
          </a:ln>
        </p:spPr>
      </p:sp>
      <p:sp>
        <p:nvSpPr>
          <p:cNvPr id="6" name="Step badge 1"/>
          <p:cNvSpPr/>
          <p:nvPr/>
        </p:nvSpPr>
        <p:spPr>
          <a:xfrm>
            <a:off x="594360" y="1737360"/>
            <a:ext cx="384048" cy="384048"/>
          </a:xfrm>
          <a:prstGeom prst="ellipse">
            <a:avLst/>
          </a:prstGeom>
          <a:solidFill>
            <a:srgbClr val="14B8A6"/>
          </a:solidFill>
          <a:ln w="12700">
            <a:solidFill>
              <a:srgbClr val="14B8A6"/>
            </a:solidFill>
            <a:prstDash val="solid"/>
          </a:ln>
        </p:spPr>
      </p:sp>
      <p:sp>
        <p:nvSpPr>
          <p:cNvPr id="7" name="Step number 1"/>
          <p:cNvSpPr txBox="1"/>
          <p:nvPr/>
        </p:nvSpPr>
        <p:spPr>
          <a:xfrm>
            <a:off x="594360" y="17373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8" name="Step title 1"/>
          <p:cNvSpPr txBox="1"/>
          <p:nvPr/>
        </p:nvSpPr>
        <p:spPr>
          <a:xfrm>
            <a:off x="594360" y="2212848"/>
            <a:ext cx="1554480" cy="320040"/>
          </a:xfrm>
          <a:prstGeom prst="rect">
            <a:avLst/>
          </a:prstGeom>
          <a:noFill/>
          <a:ln/>
        </p:spPr>
        <p:txBody>
          <a:bodyPr wrap="square" lIns="0" tIns="0" rIns="0" bIns="0" rtlCol="0" anchor="t"/>
          <a:lstStyle/>
          <a:p>
            <a:pPr marL="0" indent="0">
              <a:buNone/>
            </a:pPr>
            <a:r>
              <a:rPr lang="en-US" sz="1600" b="1" dirty="0">
                <a:solidFill>
                  <a:srgbClr val="0B1F3A"/>
                </a:solidFill>
              </a:rPr>
              <a:t>Raw data</a:t>
            </a:r>
            <a:endParaRPr lang="en-US" sz="1600" dirty="0"/>
          </a:p>
        </p:txBody>
      </p:sp>
      <p:sp>
        <p:nvSpPr>
          <p:cNvPr id="9" name="Step text 1"/>
          <p:cNvSpPr txBox="1"/>
          <p:nvPr/>
        </p:nvSpPr>
        <p:spPr>
          <a:xfrm>
            <a:off x="594360" y="2560320"/>
            <a:ext cx="1554480" cy="1188720"/>
          </a:xfrm>
          <a:prstGeom prst="rect">
            <a:avLst/>
          </a:prstGeom>
          <a:noFill/>
          <a:ln/>
        </p:spPr>
        <p:txBody>
          <a:bodyPr wrap="square" lIns="0" tIns="0" rIns="0" bIns="0" rtlCol="0" anchor="t"/>
          <a:lstStyle/>
          <a:p>
            <a:pPr marL="0" indent="0">
              <a:buNone/>
            </a:pPr>
            <a:r>
              <a:rPr lang="en-US" sz="1400" dirty="0">
                <a:solidFill>
                  <a:srgbClr val="64748B"/>
                </a:solidFill>
              </a:rPr>
              <a:t>123,141 order rows from one Excel sheet, 39 columns</a:t>
            </a:r>
            <a:endParaRPr lang="en-US" sz="1400" dirty="0"/>
          </a:p>
        </p:txBody>
      </p:sp>
      <p:sp>
        <p:nvSpPr>
          <p:cNvPr id="10" name="Step arrow 1"/>
          <p:cNvSpPr/>
          <p:nvPr/>
        </p:nvSpPr>
        <p:spPr>
          <a:xfrm>
            <a:off x="2322576" y="2542032"/>
            <a:ext cx="228600" cy="228600"/>
          </a:xfrm>
          <a:prstGeom prst="rightArrow">
            <a:avLst/>
          </a:prstGeom>
          <a:solidFill>
            <a:srgbClr val="14B8A6"/>
          </a:solidFill>
          <a:ln w="12700">
            <a:solidFill>
              <a:srgbClr val="14B8A6"/>
            </a:solidFill>
            <a:prstDash val="solid"/>
          </a:ln>
        </p:spPr>
      </p:sp>
      <p:sp>
        <p:nvSpPr>
          <p:cNvPr id="11" name="Step card 2"/>
          <p:cNvSpPr/>
          <p:nvPr/>
        </p:nvSpPr>
        <p:spPr>
          <a:xfrm>
            <a:off x="2590495" y="1600200"/>
            <a:ext cx="1828800" cy="2240280"/>
          </a:xfrm>
          <a:prstGeom prst="roundRect">
            <a:avLst>
              <a:gd name="adj" fmla="val 6000"/>
            </a:avLst>
          </a:prstGeom>
          <a:solidFill>
            <a:srgbClr val="F1F5F9"/>
          </a:solidFill>
          <a:ln w="12700">
            <a:solidFill>
              <a:srgbClr val="F1F5F9"/>
            </a:solidFill>
            <a:prstDash val="solid"/>
          </a:ln>
        </p:spPr>
      </p:sp>
      <p:sp>
        <p:nvSpPr>
          <p:cNvPr id="12" name="Step badge 2"/>
          <p:cNvSpPr/>
          <p:nvPr/>
        </p:nvSpPr>
        <p:spPr>
          <a:xfrm>
            <a:off x="2727655" y="1737360"/>
            <a:ext cx="384048" cy="384048"/>
          </a:xfrm>
          <a:prstGeom prst="ellipse">
            <a:avLst/>
          </a:prstGeom>
          <a:solidFill>
            <a:srgbClr val="14B8A6"/>
          </a:solidFill>
          <a:ln w="12700">
            <a:solidFill>
              <a:srgbClr val="14B8A6"/>
            </a:solidFill>
            <a:prstDash val="solid"/>
          </a:ln>
        </p:spPr>
      </p:sp>
      <p:sp>
        <p:nvSpPr>
          <p:cNvPr id="13" name="Step number 2"/>
          <p:cNvSpPr txBox="1"/>
          <p:nvPr/>
        </p:nvSpPr>
        <p:spPr>
          <a:xfrm>
            <a:off x="2727655" y="17373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4" name="Step title 2"/>
          <p:cNvSpPr txBox="1"/>
          <p:nvPr/>
        </p:nvSpPr>
        <p:spPr>
          <a:xfrm>
            <a:off x="2727655" y="2212848"/>
            <a:ext cx="1554480" cy="320040"/>
          </a:xfrm>
          <a:prstGeom prst="rect">
            <a:avLst/>
          </a:prstGeom>
          <a:noFill/>
          <a:ln/>
        </p:spPr>
        <p:txBody>
          <a:bodyPr wrap="square" lIns="0" tIns="0" rIns="0" bIns="0" rtlCol="0" anchor="t"/>
          <a:lstStyle/>
          <a:p>
            <a:pPr marL="0" indent="0">
              <a:buNone/>
            </a:pPr>
            <a:r>
              <a:rPr lang="en-US" sz="1600" b="1" dirty="0">
                <a:solidFill>
                  <a:srgbClr val="0B1F3A"/>
                </a:solidFill>
              </a:rPr>
              <a:t>Clean in Python</a:t>
            </a:r>
            <a:endParaRPr lang="en-US" sz="1600" dirty="0"/>
          </a:p>
        </p:txBody>
      </p:sp>
      <p:sp>
        <p:nvSpPr>
          <p:cNvPr id="15" name="Step text 2"/>
          <p:cNvSpPr txBox="1"/>
          <p:nvPr/>
        </p:nvSpPr>
        <p:spPr>
          <a:xfrm>
            <a:off x="2727655" y="2560320"/>
            <a:ext cx="1554480" cy="1188720"/>
          </a:xfrm>
          <a:prstGeom prst="rect">
            <a:avLst/>
          </a:prstGeom>
          <a:noFill/>
          <a:ln/>
        </p:spPr>
        <p:txBody>
          <a:bodyPr wrap="square" lIns="0" tIns="0" rIns="0" bIns="0" rtlCol="0" anchor="t"/>
          <a:lstStyle/>
          <a:p>
            <a:pPr marL="0" indent="0">
              <a:buNone/>
            </a:pPr>
            <a:r>
              <a:rPr lang="en-US" sz="1400" dirty="0">
                <a:solidFill>
                  <a:srgbClr val="64748B"/>
                </a:solidFill>
              </a:rPr>
              <a:t>Pandas: remove duplicates, fix dates and amounts, flag cancelled and bulk orders</a:t>
            </a:r>
            <a:endParaRPr lang="en-US" sz="1400" dirty="0"/>
          </a:p>
        </p:txBody>
      </p:sp>
      <p:sp>
        <p:nvSpPr>
          <p:cNvPr id="16" name="Step arrow 2"/>
          <p:cNvSpPr/>
          <p:nvPr/>
        </p:nvSpPr>
        <p:spPr>
          <a:xfrm>
            <a:off x="4455871" y="2542032"/>
            <a:ext cx="228600" cy="228600"/>
          </a:xfrm>
          <a:prstGeom prst="rightArrow">
            <a:avLst/>
          </a:prstGeom>
          <a:solidFill>
            <a:srgbClr val="14B8A6"/>
          </a:solidFill>
          <a:ln w="12700">
            <a:solidFill>
              <a:srgbClr val="14B8A6"/>
            </a:solidFill>
            <a:prstDash val="solid"/>
          </a:ln>
        </p:spPr>
      </p:sp>
      <p:sp>
        <p:nvSpPr>
          <p:cNvPr id="17" name="Step card 3"/>
          <p:cNvSpPr/>
          <p:nvPr/>
        </p:nvSpPr>
        <p:spPr>
          <a:xfrm>
            <a:off x="4723790" y="1600200"/>
            <a:ext cx="1828800" cy="2240280"/>
          </a:xfrm>
          <a:prstGeom prst="roundRect">
            <a:avLst>
              <a:gd name="adj" fmla="val 6000"/>
            </a:avLst>
          </a:prstGeom>
          <a:solidFill>
            <a:srgbClr val="F1F5F9"/>
          </a:solidFill>
          <a:ln w="12700">
            <a:solidFill>
              <a:srgbClr val="F1F5F9"/>
            </a:solidFill>
            <a:prstDash val="solid"/>
          </a:ln>
        </p:spPr>
      </p:sp>
      <p:sp>
        <p:nvSpPr>
          <p:cNvPr id="18" name="Step badge 3"/>
          <p:cNvSpPr/>
          <p:nvPr/>
        </p:nvSpPr>
        <p:spPr>
          <a:xfrm>
            <a:off x="4860950" y="1737360"/>
            <a:ext cx="384048" cy="384048"/>
          </a:xfrm>
          <a:prstGeom prst="ellipse">
            <a:avLst/>
          </a:prstGeom>
          <a:solidFill>
            <a:srgbClr val="14B8A6"/>
          </a:solidFill>
          <a:ln w="12700">
            <a:solidFill>
              <a:srgbClr val="14B8A6"/>
            </a:solidFill>
            <a:prstDash val="solid"/>
          </a:ln>
        </p:spPr>
      </p:sp>
      <p:sp>
        <p:nvSpPr>
          <p:cNvPr id="19" name="Step number 3"/>
          <p:cNvSpPr txBox="1"/>
          <p:nvPr/>
        </p:nvSpPr>
        <p:spPr>
          <a:xfrm>
            <a:off x="4860950" y="17373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0" name="Step title 3"/>
          <p:cNvSpPr txBox="1"/>
          <p:nvPr/>
        </p:nvSpPr>
        <p:spPr>
          <a:xfrm>
            <a:off x="4860950" y="2212848"/>
            <a:ext cx="1554480" cy="320040"/>
          </a:xfrm>
          <a:prstGeom prst="rect">
            <a:avLst/>
          </a:prstGeom>
          <a:noFill/>
          <a:ln/>
        </p:spPr>
        <p:txBody>
          <a:bodyPr wrap="square" lIns="0" tIns="0" rIns="0" bIns="0" rtlCol="0" anchor="t"/>
          <a:lstStyle/>
          <a:p>
            <a:pPr marL="0" indent="0">
              <a:buNone/>
            </a:pPr>
            <a:r>
              <a:rPr lang="en-US" sz="1600" b="1" dirty="0">
                <a:solidFill>
                  <a:srgbClr val="0B1F3A"/>
                </a:solidFill>
              </a:rPr>
              <a:t>Star schema</a:t>
            </a:r>
            <a:endParaRPr lang="en-US" sz="1600" dirty="0"/>
          </a:p>
        </p:txBody>
      </p:sp>
      <p:sp>
        <p:nvSpPr>
          <p:cNvPr id="21" name="Step text 3"/>
          <p:cNvSpPr txBox="1"/>
          <p:nvPr/>
        </p:nvSpPr>
        <p:spPr>
          <a:xfrm>
            <a:off x="4860950" y="2560320"/>
            <a:ext cx="1554480" cy="1188720"/>
          </a:xfrm>
          <a:prstGeom prst="rect">
            <a:avLst/>
          </a:prstGeom>
          <a:noFill/>
          <a:ln/>
        </p:spPr>
        <p:txBody>
          <a:bodyPr wrap="square" lIns="0" tIns="0" rIns="0" bIns="0" rtlCol="0" anchor="t"/>
          <a:lstStyle/>
          <a:p>
            <a:pPr marL="0" indent="0">
              <a:buNone/>
            </a:pPr>
            <a:r>
              <a:rPr lang="en-US" sz="1400" dirty="0">
                <a:solidFill>
                  <a:srgbClr val="64748B"/>
                </a:solidFill>
              </a:rPr>
              <a:t>One fact table and four dimensions: store, brand, channel, date</a:t>
            </a:r>
            <a:endParaRPr lang="en-US" sz="1400" dirty="0"/>
          </a:p>
        </p:txBody>
      </p:sp>
      <p:sp>
        <p:nvSpPr>
          <p:cNvPr id="22" name="Step arrow 3"/>
          <p:cNvSpPr/>
          <p:nvPr/>
        </p:nvSpPr>
        <p:spPr>
          <a:xfrm>
            <a:off x="6589166" y="2542032"/>
            <a:ext cx="228600" cy="228600"/>
          </a:xfrm>
          <a:prstGeom prst="rightArrow">
            <a:avLst/>
          </a:prstGeom>
          <a:solidFill>
            <a:srgbClr val="14B8A6"/>
          </a:solidFill>
          <a:ln w="12700">
            <a:solidFill>
              <a:srgbClr val="14B8A6"/>
            </a:solidFill>
            <a:prstDash val="solid"/>
          </a:ln>
        </p:spPr>
      </p:sp>
      <p:sp>
        <p:nvSpPr>
          <p:cNvPr id="23" name="Step card 4"/>
          <p:cNvSpPr/>
          <p:nvPr/>
        </p:nvSpPr>
        <p:spPr>
          <a:xfrm>
            <a:off x="6857086" y="1600200"/>
            <a:ext cx="1828800" cy="2240280"/>
          </a:xfrm>
          <a:prstGeom prst="roundRect">
            <a:avLst>
              <a:gd name="adj" fmla="val 6000"/>
            </a:avLst>
          </a:prstGeom>
          <a:solidFill>
            <a:srgbClr val="F1F5F9"/>
          </a:solidFill>
          <a:ln w="12700">
            <a:solidFill>
              <a:srgbClr val="F1F5F9"/>
            </a:solidFill>
            <a:prstDash val="solid"/>
          </a:ln>
        </p:spPr>
      </p:sp>
      <p:sp>
        <p:nvSpPr>
          <p:cNvPr id="24" name="Step badge 4"/>
          <p:cNvSpPr/>
          <p:nvPr/>
        </p:nvSpPr>
        <p:spPr>
          <a:xfrm>
            <a:off x="6994246" y="1737360"/>
            <a:ext cx="384048" cy="384048"/>
          </a:xfrm>
          <a:prstGeom prst="ellipse">
            <a:avLst/>
          </a:prstGeom>
          <a:solidFill>
            <a:srgbClr val="14B8A6"/>
          </a:solidFill>
          <a:ln w="12700">
            <a:solidFill>
              <a:srgbClr val="14B8A6"/>
            </a:solidFill>
            <a:prstDash val="solid"/>
          </a:ln>
        </p:spPr>
      </p:sp>
      <p:sp>
        <p:nvSpPr>
          <p:cNvPr id="25" name="Step number 4"/>
          <p:cNvSpPr txBox="1"/>
          <p:nvPr/>
        </p:nvSpPr>
        <p:spPr>
          <a:xfrm>
            <a:off x="6994246" y="17373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6" name="Step title 4"/>
          <p:cNvSpPr txBox="1"/>
          <p:nvPr/>
        </p:nvSpPr>
        <p:spPr>
          <a:xfrm>
            <a:off x="6994246" y="2212848"/>
            <a:ext cx="1554480" cy="320040"/>
          </a:xfrm>
          <a:prstGeom prst="rect">
            <a:avLst/>
          </a:prstGeom>
          <a:noFill/>
          <a:ln/>
        </p:spPr>
        <p:txBody>
          <a:bodyPr wrap="square" lIns="0" tIns="0" rIns="0" bIns="0" rtlCol="0" anchor="t"/>
          <a:lstStyle/>
          <a:p>
            <a:pPr marL="0" indent="0">
              <a:buNone/>
            </a:pPr>
            <a:r>
              <a:rPr lang="en-US" sz="1600" b="1" dirty="0">
                <a:solidFill>
                  <a:srgbClr val="0B1F3A"/>
                </a:solidFill>
              </a:rPr>
              <a:t>Power BI</a:t>
            </a:r>
            <a:endParaRPr lang="en-US" sz="1600" dirty="0"/>
          </a:p>
        </p:txBody>
      </p:sp>
      <p:sp>
        <p:nvSpPr>
          <p:cNvPr id="27" name="Step text 4"/>
          <p:cNvSpPr txBox="1"/>
          <p:nvPr/>
        </p:nvSpPr>
        <p:spPr>
          <a:xfrm>
            <a:off x="6994246" y="2560320"/>
            <a:ext cx="1554480" cy="1188720"/>
          </a:xfrm>
          <a:prstGeom prst="rect">
            <a:avLst/>
          </a:prstGeom>
          <a:noFill/>
          <a:ln/>
        </p:spPr>
        <p:txBody>
          <a:bodyPr wrap="square" lIns="0" tIns="0" rIns="0" bIns="0" rtlCol="0" anchor="t"/>
          <a:lstStyle/>
          <a:p>
            <a:pPr marL="0" indent="0">
              <a:buNone/>
            </a:pPr>
            <a:r>
              <a:rPr lang="en-US" sz="1400" dirty="0">
                <a:solidFill>
                  <a:srgbClr val="64748B"/>
                </a:solidFill>
              </a:rPr>
              <a:t>DAX measures and a three-page dashboard: overview, risk, brands</a:t>
            </a:r>
            <a:endParaRPr lang="en-US" sz="1400" dirty="0"/>
          </a:p>
        </p:txBody>
      </p:sp>
      <p:sp>
        <p:nvSpPr>
          <p:cNvPr id="28" name="Cleaning band"/>
          <p:cNvSpPr/>
          <p:nvPr/>
        </p:nvSpPr>
        <p:spPr>
          <a:xfrm>
            <a:off x="457200" y="4023360"/>
            <a:ext cx="8229600" cy="685800"/>
          </a:xfrm>
          <a:prstGeom prst="roundRect">
            <a:avLst>
              <a:gd name="adj" fmla="val 16000"/>
            </a:avLst>
          </a:prstGeom>
          <a:solidFill>
            <a:srgbClr val="0B1F3A"/>
          </a:solidFill>
          <a:ln w="12700">
            <a:solidFill>
              <a:srgbClr val="0B1F3A"/>
            </a:solidFill>
            <a:prstDash val="solid"/>
          </a:ln>
        </p:spPr>
      </p:sp>
      <p:sp>
        <p:nvSpPr>
          <p:cNvPr id="29" name="Cleaning facts"/>
          <p:cNvSpPr txBox="1"/>
          <p:nvPr/>
        </p:nvSpPr>
        <p:spPr>
          <a:xfrm>
            <a:off x="685800" y="4069080"/>
            <a:ext cx="7772400" cy="594360"/>
          </a:xfrm>
          <a:prstGeom prst="rect">
            <a:avLst/>
          </a:prstGeom>
          <a:noFill/>
          <a:ln/>
        </p:spPr>
        <p:txBody>
          <a:bodyPr wrap="square" lIns="0" tIns="0" rIns="0" bIns="0" rtlCol="0" anchor="ctr"/>
          <a:lstStyle/>
          <a:p>
            <a:pPr marL="0" indent="0">
              <a:buNone/>
            </a:pPr>
            <a:r>
              <a:rPr lang="en-US" sz="1400" dirty="0">
                <a:solidFill>
                  <a:srgbClr val="FFFFFF"/>
                </a:solidFill>
              </a:rPr>
              <a:t>8 duplicate rows removed  ·  2 empty columns dropped  ·  mixed date formats fixed  ·  coupon text standardised into 7 types</a:t>
            </a:r>
            <a:endParaRPr lang="en-US" sz="1400" dirty="0"/>
          </a:p>
        </p:txBody>
      </p:sp>
      <p:sp>
        <p:nvSpPr>
          <p:cNvPr id="4"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Headline: ₹38.3M net revenue</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Delivered orders on 22 Jan 2026, after discounts</a:t>
            </a:r>
            <a:endParaRPr lang="en-US" sz="1600" dirty="0"/>
          </a:p>
        </p:txBody>
      </p:sp>
      <p:sp>
        <p:nvSpPr>
          <p:cNvPr id="5" name="KPI 1 card"/>
          <p:cNvSpPr/>
          <p:nvPr/>
        </p:nvSpPr>
        <p:spPr>
          <a:xfrm>
            <a:off x="457200" y="1600200"/>
            <a:ext cx="1499616" cy="1554480"/>
          </a:xfrm>
          <a:prstGeom prst="roundRect">
            <a:avLst>
              <a:gd name="adj" fmla="val 7317"/>
            </a:avLst>
          </a:prstGeom>
          <a:solidFill>
            <a:srgbClr val="F1F5F9"/>
          </a:solidFill>
          <a:ln w="12700">
            <a:solidFill>
              <a:srgbClr val="F1F5F9"/>
            </a:solidFill>
            <a:prstDash val="solid"/>
          </a:ln>
        </p:spPr>
      </p:sp>
      <p:sp>
        <p:nvSpPr>
          <p:cNvPr id="6" name="KPI 1 value"/>
          <p:cNvSpPr txBox="1"/>
          <p:nvPr/>
        </p:nvSpPr>
        <p:spPr>
          <a:xfrm>
            <a:off x="594360" y="1691640"/>
            <a:ext cx="1225296" cy="699516"/>
          </a:xfrm>
          <a:prstGeom prst="rect">
            <a:avLst/>
          </a:prstGeom>
          <a:noFill/>
          <a:ln/>
        </p:spPr>
        <p:txBody>
          <a:bodyPr wrap="square" lIns="0" tIns="0" rIns="0" bIns="0" rtlCol="0" anchor="ctr"/>
          <a:lstStyle/>
          <a:p>
            <a:pPr marL="0" indent="0" algn="l">
              <a:buNone/>
            </a:pPr>
            <a:r>
              <a:rPr lang="en-US" sz="2600" b="1" dirty="0">
                <a:solidFill>
                  <a:srgbClr val="0B1F3A"/>
                </a:solidFill>
              </a:rPr>
              <a:t>₹38.26M</a:t>
            </a:r>
            <a:endParaRPr lang="en-US" sz="2600" dirty="0"/>
          </a:p>
        </p:txBody>
      </p:sp>
      <p:sp>
        <p:nvSpPr>
          <p:cNvPr id="7" name="KPI 1 label"/>
          <p:cNvSpPr txBox="1"/>
          <p:nvPr/>
        </p:nvSpPr>
        <p:spPr>
          <a:xfrm>
            <a:off x="594360" y="2409444"/>
            <a:ext cx="1225296" cy="672084"/>
          </a:xfrm>
          <a:prstGeom prst="rect">
            <a:avLst/>
          </a:prstGeom>
          <a:noFill/>
          <a:ln/>
        </p:spPr>
        <p:txBody>
          <a:bodyPr wrap="square" lIns="0" tIns="0" rIns="0" bIns="0" rtlCol="0" anchor="t"/>
          <a:lstStyle/>
          <a:p>
            <a:pPr marL="0" indent="0" algn="l">
              <a:buNone/>
            </a:pPr>
            <a:r>
              <a:rPr lang="en-US" sz="1400" dirty="0">
                <a:solidFill>
                  <a:srgbClr val="64748B"/>
                </a:solidFill>
              </a:rPr>
              <a:t>net revenue</a:t>
            </a:r>
            <a:endParaRPr lang="en-US" sz="1400" dirty="0"/>
          </a:p>
        </p:txBody>
      </p:sp>
      <p:sp>
        <p:nvSpPr>
          <p:cNvPr id="8" name="KPI 2 card"/>
          <p:cNvSpPr/>
          <p:nvPr/>
        </p:nvSpPr>
        <p:spPr>
          <a:xfrm>
            <a:off x="2139696" y="1600200"/>
            <a:ext cx="1499616" cy="1554480"/>
          </a:xfrm>
          <a:prstGeom prst="roundRect">
            <a:avLst>
              <a:gd name="adj" fmla="val 7317"/>
            </a:avLst>
          </a:prstGeom>
          <a:solidFill>
            <a:srgbClr val="F1F5F9"/>
          </a:solidFill>
          <a:ln w="12700">
            <a:solidFill>
              <a:srgbClr val="F1F5F9"/>
            </a:solidFill>
            <a:prstDash val="solid"/>
          </a:ln>
        </p:spPr>
      </p:sp>
      <p:sp>
        <p:nvSpPr>
          <p:cNvPr id="9" name="KPI 2 value"/>
          <p:cNvSpPr txBox="1"/>
          <p:nvPr/>
        </p:nvSpPr>
        <p:spPr>
          <a:xfrm>
            <a:off x="2276856" y="1691640"/>
            <a:ext cx="1225296" cy="699516"/>
          </a:xfrm>
          <a:prstGeom prst="rect">
            <a:avLst/>
          </a:prstGeom>
          <a:noFill/>
          <a:ln/>
        </p:spPr>
        <p:txBody>
          <a:bodyPr wrap="square" lIns="0" tIns="0" rIns="0" bIns="0" rtlCol="0" anchor="ctr"/>
          <a:lstStyle/>
          <a:p>
            <a:pPr marL="0" indent="0" algn="l">
              <a:buNone/>
            </a:pPr>
            <a:r>
              <a:rPr lang="en-US" sz="2600" b="1" dirty="0">
                <a:solidFill>
                  <a:srgbClr val="0B1F3A"/>
                </a:solidFill>
              </a:rPr>
              <a:t>119,729</a:t>
            </a:r>
            <a:endParaRPr lang="en-US" sz="2600" dirty="0"/>
          </a:p>
        </p:txBody>
      </p:sp>
      <p:sp>
        <p:nvSpPr>
          <p:cNvPr id="10" name="KPI 2 label"/>
          <p:cNvSpPr txBox="1"/>
          <p:nvPr/>
        </p:nvSpPr>
        <p:spPr>
          <a:xfrm>
            <a:off x="2276856" y="2409444"/>
            <a:ext cx="1225296" cy="672084"/>
          </a:xfrm>
          <a:prstGeom prst="rect">
            <a:avLst/>
          </a:prstGeom>
          <a:noFill/>
          <a:ln/>
        </p:spPr>
        <p:txBody>
          <a:bodyPr wrap="square" lIns="0" tIns="0" rIns="0" bIns="0" rtlCol="0" anchor="t"/>
          <a:lstStyle/>
          <a:p>
            <a:pPr marL="0" indent="0" algn="l">
              <a:buNone/>
            </a:pPr>
            <a:r>
              <a:rPr lang="en-US" sz="1400" dirty="0">
                <a:solidFill>
                  <a:srgbClr val="64748B"/>
                </a:solidFill>
              </a:rPr>
              <a:t>orders delivered</a:t>
            </a:r>
            <a:endParaRPr lang="en-US" sz="1400" dirty="0"/>
          </a:p>
        </p:txBody>
      </p:sp>
      <p:sp>
        <p:nvSpPr>
          <p:cNvPr id="11" name="KPI 3 card"/>
          <p:cNvSpPr/>
          <p:nvPr/>
        </p:nvSpPr>
        <p:spPr>
          <a:xfrm>
            <a:off x="3822192" y="1600200"/>
            <a:ext cx="1499616" cy="1554480"/>
          </a:xfrm>
          <a:prstGeom prst="roundRect">
            <a:avLst>
              <a:gd name="adj" fmla="val 7317"/>
            </a:avLst>
          </a:prstGeom>
          <a:solidFill>
            <a:srgbClr val="F1F5F9"/>
          </a:solidFill>
          <a:ln w="12700">
            <a:solidFill>
              <a:srgbClr val="F1F5F9"/>
            </a:solidFill>
            <a:prstDash val="solid"/>
          </a:ln>
        </p:spPr>
      </p:sp>
      <p:sp>
        <p:nvSpPr>
          <p:cNvPr id="12" name="KPI 3 value"/>
          <p:cNvSpPr txBox="1"/>
          <p:nvPr/>
        </p:nvSpPr>
        <p:spPr>
          <a:xfrm>
            <a:off x="3959352" y="1691640"/>
            <a:ext cx="1225296" cy="699516"/>
          </a:xfrm>
          <a:prstGeom prst="rect">
            <a:avLst/>
          </a:prstGeom>
          <a:noFill/>
          <a:ln/>
        </p:spPr>
        <p:txBody>
          <a:bodyPr wrap="square" lIns="0" tIns="0" rIns="0" bIns="0" rtlCol="0" anchor="ctr"/>
          <a:lstStyle/>
          <a:p>
            <a:pPr marL="0" indent="0" algn="l">
              <a:buNone/>
            </a:pPr>
            <a:r>
              <a:rPr lang="en-US" sz="2600" b="1" dirty="0">
                <a:solidFill>
                  <a:srgbClr val="0B1F3A"/>
                </a:solidFill>
              </a:rPr>
              <a:t>₹320</a:t>
            </a:r>
            <a:endParaRPr lang="en-US" sz="2600" dirty="0"/>
          </a:p>
        </p:txBody>
      </p:sp>
      <p:sp>
        <p:nvSpPr>
          <p:cNvPr id="13" name="KPI 3 label"/>
          <p:cNvSpPr txBox="1"/>
          <p:nvPr/>
        </p:nvSpPr>
        <p:spPr>
          <a:xfrm>
            <a:off x="3959352" y="2409444"/>
            <a:ext cx="1225296" cy="672084"/>
          </a:xfrm>
          <a:prstGeom prst="rect">
            <a:avLst/>
          </a:prstGeom>
          <a:noFill/>
          <a:ln/>
        </p:spPr>
        <p:txBody>
          <a:bodyPr wrap="square" lIns="0" tIns="0" rIns="0" bIns="0" rtlCol="0" anchor="t"/>
          <a:lstStyle/>
          <a:p>
            <a:pPr marL="0" indent="0" algn="l">
              <a:buNone/>
            </a:pPr>
            <a:r>
              <a:rPr lang="en-US" sz="1400" dirty="0">
                <a:solidFill>
                  <a:srgbClr val="64748B"/>
                </a:solidFill>
              </a:rPr>
              <a:t>average order value</a:t>
            </a:r>
            <a:endParaRPr lang="en-US" sz="1400" dirty="0"/>
          </a:p>
        </p:txBody>
      </p:sp>
      <p:sp>
        <p:nvSpPr>
          <p:cNvPr id="14" name="KPI 4 card"/>
          <p:cNvSpPr/>
          <p:nvPr/>
        </p:nvSpPr>
        <p:spPr>
          <a:xfrm>
            <a:off x="5504688" y="1600200"/>
            <a:ext cx="1499616" cy="1554480"/>
          </a:xfrm>
          <a:prstGeom prst="roundRect">
            <a:avLst>
              <a:gd name="adj" fmla="val 7317"/>
            </a:avLst>
          </a:prstGeom>
          <a:solidFill>
            <a:srgbClr val="F1F5F9"/>
          </a:solidFill>
          <a:ln w="12700">
            <a:solidFill>
              <a:srgbClr val="F1F5F9"/>
            </a:solidFill>
            <a:prstDash val="solid"/>
          </a:ln>
        </p:spPr>
      </p:sp>
      <p:sp>
        <p:nvSpPr>
          <p:cNvPr id="15" name="KPI 4 value"/>
          <p:cNvSpPr txBox="1"/>
          <p:nvPr/>
        </p:nvSpPr>
        <p:spPr>
          <a:xfrm>
            <a:off x="5641848" y="1691640"/>
            <a:ext cx="1225296" cy="699516"/>
          </a:xfrm>
          <a:prstGeom prst="rect">
            <a:avLst/>
          </a:prstGeom>
          <a:noFill/>
          <a:ln/>
        </p:spPr>
        <p:txBody>
          <a:bodyPr wrap="square" lIns="0" tIns="0" rIns="0" bIns="0" rtlCol="0" anchor="ctr"/>
          <a:lstStyle/>
          <a:p>
            <a:pPr marL="0" indent="0" algn="l">
              <a:buNone/>
            </a:pPr>
            <a:r>
              <a:rPr lang="en-US" sz="2600" b="1" dirty="0">
                <a:solidFill>
                  <a:srgbClr val="B45309"/>
                </a:solidFill>
              </a:rPr>
              <a:t>25.55%</a:t>
            </a:r>
            <a:endParaRPr lang="en-US" sz="2600" dirty="0"/>
          </a:p>
        </p:txBody>
      </p:sp>
      <p:sp>
        <p:nvSpPr>
          <p:cNvPr id="16" name="KPI 4 label"/>
          <p:cNvSpPr txBox="1"/>
          <p:nvPr/>
        </p:nvSpPr>
        <p:spPr>
          <a:xfrm>
            <a:off x="5641848" y="2409444"/>
            <a:ext cx="1225296" cy="672084"/>
          </a:xfrm>
          <a:prstGeom prst="rect">
            <a:avLst/>
          </a:prstGeom>
          <a:noFill/>
          <a:ln/>
        </p:spPr>
        <p:txBody>
          <a:bodyPr wrap="square" lIns="0" tIns="0" rIns="0" bIns="0" rtlCol="0" anchor="t"/>
          <a:lstStyle/>
          <a:p>
            <a:pPr marL="0" indent="0" algn="l">
              <a:buNone/>
            </a:pPr>
            <a:r>
              <a:rPr lang="en-US" sz="1400" dirty="0">
                <a:solidFill>
                  <a:srgbClr val="64748B"/>
                </a:solidFill>
              </a:rPr>
              <a:t>discount on gross sales</a:t>
            </a:r>
            <a:endParaRPr lang="en-US" sz="1400" dirty="0"/>
          </a:p>
        </p:txBody>
      </p:sp>
      <p:sp>
        <p:nvSpPr>
          <p:cNvPr id="17" name="KPI 5 card"/>
          <p:cNvSpPr/>
          <p:nvPr/>
        </p:nvSpPr>
        <p:spPr>
          <a:xfrm>
            <a:off x="7187184" y="1600200"/>
            <a:ext cx="1499616" cy="1554480"/>
          </a:xfrm>
          <a:prstGeom prst="roundRect">
            <a:avLst>
              <a:gd name="adj" fmla="val 7317"/>
            </a:avLst>
          </a:prstGeom>
          <a:solidFill>
            <a:srgbClr val="F1F5F9"/>
          </a:solidFill>
          <a:ln w="12700">
            <a:solidFill>
              <a:srgbClr val="F1F5F9"/>
            </a:solidFill>
            <a:prstDash val="solid"/>
          </a:ln>
        </p:spPr>
      </p:sp>
      <p:sp>
        <p:nvSpPr>
          <p:cNvPr id="18" name="KPI 5 value"/>
          <p:cNvSpPr txBox="1"/>
          <p:nvPr/>
        </p:nvSpPr>
        <p:spPr>
          <a:xfrm>
            <a:off x="7324344" y="1691640"/>
            <a:ext cx="1225296" cy="699516"/>
          </a:xfrm>
          <a:prstGeom prst="rect">
            <a:avLst/>
          </a:prstGeom>
          <a:noFill/>
          <a:ln/>
        </p:spPr>
        <p:txBody>
          <a:bodyPr wrap="square" lIns="0" tIns="0" rIns="0" bIns="0" rtlCol="0" anchor="ctr"/>
          <a:lstStyle/>
          <a:p>
            <a:pPr marL="0" indent="0" algn="l">
              <a:buNone/>
            </a:pPr>
            <a:r>
              <a:rPr lang="en-US" sz="2600" b="1" dirty="0">
                <a:solidFill>
                  <a:srgbClr val="DC2626"/>
                </a:solidFill>
              </a:rPr>
              <a:t>2.76%</a:t>
            </a:r>
            <a:endParaRPr lang="en-US" sz="2600" dirty="0"/>
          </a:p>
        </p:txBody>
      </p:sp>
      <p:sp>
        <p:nvSpPr>
          <p:cNvPr id="19" name="KPI 5 label"/>
          <p:cNvSpPr txBox="1"/>
          <p:nvPr/>
        </p:nvSpPr>
        <p:spPr>
          <a:xfrm>
            <a:off x="7324344" y="2409444"/>
            <a:ext cx="1225296" cy="672084"/>
          </a:xfrm>
          <a:prstGeom prst="rect">
            <a:avLst/>
          </a:prstGeom>
          <a:noFill/>
          <a:ln/>
        </p:spPr>
        <p:txBody>
          <a:bodyPr wrap="square" lIns="0" tIns="0" rIns="0" bIns="0" rtlCol="0" anchor="t"/>
          <a:lstStyle/>
          <a:p>
            <a:pPr marL="0" indent="0" algn="l">
              <a:buNone/>
            </a:pPr>
            <a:r>
              <a:rPr lang="en-US" sz="1400" dirty="0">
                <a:solidFill>
                  <a:srgbClr val="64748B"/>
                </a:solidFill>
              </a:rPr>
              <a:t>orders cancelled</a:t>
            </a:r>
            <a:endParaRPr lang="en-US" sz="1400" dirty="0"/>
          </a:p>
        </p:txBody>
      </p:sp>
      <p:sp>
        <p:nvSpPr>
          <p:cNvPr id="20" name="Bridge band"/>
          <p:cNvSpPr/>
          <p:nvPr/>
        </p:nvSpPr>
        <p:spPr>
          <a:xfrm>
            <a:off x="457200" y="3383280"/>
            <a:ext cx="8229600" cy="1188720"/>
          </a:xfrm>
          <a:prstGeom prst="roundRect">
            <a:avLst>
              <a:gd name="adj" fmla="val 9231"/>
            </a:avLst>
          </a:prstGeom>
          <a:solidFill>
            <a:srgbClr val="0B1F3A"/>
          </a:solidFill>
          <a:ln w="12700">
            <a:solidFill>
              <a:srgbClr val="0B1F3A"/>
            </a:solidFill>
            <a:prstDash val="solid"/>
          </a:ln>
        </p:spPr>
      </p:sp>
      <p:sp>
        <p:nvSpPr>
          <p:cNvPr id="21" name="Bridge value 1"/>
          <p:cNvSpPr txBox="1"/>
          <p:nvPr/>
        </p:nvSpPr>
        <p:spPr>
          <a:xfrm>
            <a:off x="731520" y="3493008"/>
            <a:ext cx="2194560" cy="548640"/>
          </a:xfrm>
          <a:prstGeom prst="rect">
            <a:avLst/>
          </a:prstGeom>
          <a:noFill/>
          <a:ln/>
        </p:spPr>
        <p:txBody>
          <a:bodyPr wrap="square" lIns="0" tIns="0" rIns="0" bIns="0" rtlCol="0" anchor="ctr"/>
          <a:lstStyle/>
          <a:p>
            <a:pPr marL="0" indent="0">
              <a:buNone/>
            </a:pPr>
            <a:r>
              <a:rPr lang="en-US" sz="3000" b="1" dirty="0">
                <a:solidFill>
                  <a:srgbClr val="FFFFFF"/>
                </a:solidFill>
              </a:rPr>
              <a:t>₹51.4M</a:t>
            </a:r>
            <a:endParaRPr lang="en-US" sz="3000" dirty="0"/>
          </a:p>
        </p:txBody>
      </p:sp>
      <p:sp>
        <p:nvSpPr>
          <p:cNvPr id="22" name="Bridge label 1"/>
          <p:cNvSpPr txBox="1"/>
          <p:nvPr/>
        </p:nvSpPr>
        <p:spPr>
          <a:xfrm>
            <a:off x="731520" y="4041648"/>
            <a:ext cx="2194560" cy="365760"/>
          </a:xfrm>
          <a:prstGeom prst="rect">
            <a:avLst/>
          </a:prstGeom>
          <a:noFill/>
          <a:ln/>
        </p:spPr>
        <p:txBody>
          <a:bodyPr wrap="square" lIns="0" tIns="0" rIns="0" bIns="0" rtlCol="0" anchor="t"/>
          <a:lstStyle/>
          <a:p>
            <a:pPr marL="0" indent="0">
              <a:buNone/>
            </a:pPr>
            <a:r>
              <a:rPr lang="en-US" sz="1400" dirty="0">
                <a:solidFill>
                  <a:srgbClr val="CBD5E1"/>
                </a:solidFill>
              </a:rPr>
              <a:t>gross sales</a:t>
            </a:r>
            <a:endParaRPr lang="en-US" sz="1400" dirty="0"/>
          </a:p>
        </p:txBody>
      </p:sp>
      <p:sp>
        <p:nvSpPr>
          <p:cNvPr id="23" name="Bridge value 2"/>
          <p:cNvSpPr txBox="1"/>
          <p:nvPr/>
        </p:nvSpPr>
        <p:spPr>
          <a:xfrm>
            <a:off x="3566160" y="3493008"/>
            <a:ext cx="2194560" cy="548640"/>
          </a:xfrm>
          <a:prstGeom prst="rect">
            <a:avLst/>
          </a:prstGeom>
          <a:noFill/>
          <a:ln/>
        </p:spPr>
        <p:txBody>
          <a:bodyPr wrap="square" lIns="0" tIns="0" rIns="0" bIns="0" rtlCol="0" anchor="ctr"/>
          <a:lstStyle/>
          <a:p>
            <a:pPr marL="0" indent="0">
              <a:buNone/>
            </a:pPr>
            <a:r>
              <a:rPr lang="en-US" sz="3000" b="1" dirty="0">
                <a:solidFill>
                  <a:srgbClr val="FFFFFF"/>
                </a:solidFill>
              </a:rPr>
              <a:t>₹13.1M</a:t>
            </a:r>
            <a:endParaRPr lang="en-US" sz="3000" dirty="0"/>
          </a:p>
        </p:txBody>
      </p:sp>
      <p:sp>
        <p:nvSpPr>
          <p:cNvPr id="24" name="Bridge label 2"/>
          <p:cNvSpPr txBox="1"/>
          <p:nvPr/>
        </p:nvSpPr>
        <p:spPr>
          <a:xfrm>
            <a:off x="3566160" y="4041648"/>
            <a:ext cx="2194560" cy="365760"/>
          </a:xfrm>
          <a:prstGeom prst="rect">
            <a:avLst/>
          </a:prstGeom>
          <a:noFill/>
          <a:ln/>
        </p:spPr>
        <p:txBody>
          <a:bodyPr wrap="square" lIns="0" tIns="0" rIns="0" bIns="0" rtlCol="0" anchor="t"/>
          <a:lstStyle/>
          <a:p>
            <a:pPr marL="0" indent="0">
              <a:buNone/>
            </a:pPr>
            <a:r>
              <a:rPr lang="en-US" sz="1400" dirty="0">
                <a:solidFill>
                  <a:srgbClr val="CBD5E1"/>
                </a:solidFill>
              </a:rPr>
              <a:t>discounts</a:t>
            </a:r>
            <a:endParaRPr lang="en-US" sz="1400" dirty="0"/>
          </a:p>
        </p:txBody>
      </p:sp>
      <p:sp>
        <p:nvSpPr>
          <p:cNvPr id="25" name="Bridge value 3"/>
          <p:cNvSpPr txBox="1"/>
          <p:nvPr/>
        </p:nvSpPr>
        <p:spPr>
          <a:xfrm>
            <a:off x="6400800" y="3493008"/>
            <a:ext cx="2194560" cy="548640"/>
          </a:xfrm>
          <a:prstGeom prst="rect">
            <a:avLst/>
          </a:prstGeom>
          <a:noFill/>
          <a:ln/>
        </p:spPr>
        <p:txBody>
          <a:bodyPr wrap="square" lIns="0" tIns="0" rIns="0" bIns="0" rtlCol="0" anchor="ctr"/>
          <a:lstStyle/>
          <a:p>
            <a:pPr marL="0" indent="0">
              <a:buNone/>
            </a:pPr>
            <a:r>
              <a:rPr lang="en-US" sz="3000" b="1" dirty="0">
                <a:solidFill>
                  <a:srgbClr val="FFFFFF"/>
                </a:solidFill>
              </a:rPr>
              <a:t>₹38.3M</a:t>
            </a:r>
            <a:endParaRPr lang="en-US" sz="3000" dirty="0"/>
          </a:p>
        </p:txBody>
      </p:sp>
      <p:sp>
        <p:nvSpPr>
          <p:cNvPr id="26" name="Bridge label 3"/>
          <p:cNvSpPr txBox="1"/>
          <p:nvPr/>
        </p:nvSpPr>
        <p:spPr>
          <a:xfrm>
            <a:off x="6400800" y="4041648"/>
            <a:ext cx="2194560" cy="365760"/>
          </a:xfrm>
          <a:prstGeom prst="rect">
            <a:avLst/>
          </a:prstGeom>
          <a:noFill/>
          <a:ln/>
        </p:spPr>
        <p:txBody>
          <a:bodyPr wrap="square" lIns="0" tIns="0" rIns="0" bIns="0" rtlCol="0" anchor="t"/>
          <a:lstStyle/>
          <a:p>
            <a:pPr marL="0" indent="0">
              <a:buNone/>
            </a:pPr>
            <a:r>
              <a:rPr lang="en-US" sz="1400" dirty="0">
                <a:solidFill>
                  <a:srgbClr val="CBD5E1"/>
                </a:solidFill>
              </a:rPr>
              <a:t>net revenue</a:t>
            </a:r>
            <a:endParaRPr lang="en-US" sz="1400" dirty="0"/>
          </a:p>
        </p:txBody>
      </p:sp>
      <p:sp>
        <p:nvSpPr>
          <p:cNvPr id="27" name="Bridge minus"/>
          <p:cNvSpPr txBox="1"/>
          <p:nvPr/>
        </p:nvSpPr>
        <p:spPr>
          <a:xfrm>
            <a:off x="2926080" y="3493008"/>
            <a:ext cx="548640" cy="548640"/>
          </a:xfrm>
          <a:prstGeom prst="rect">
            <a:avLst/>
          </a:prstGeom>
          <a:noFill/>
          <a:ln/>
        </p:spPr>
        <p:txBody>
          <a:bodyPr wrap="square" lIns="0" tIns="0" rIns="0" bIns="0" rtlCol="0" anchor="ctr"/>
          <a:lstStyle/>
          <a:p>
            <a:pPr marL="0" indent="0" algn="ctr">
              <a:buNone/>
            </a:pPr>
            <a:r>
              <a:rPr lang="en-US" sz="3000" b="1" dirty="0">
                <a:solidFill>
                  <a:srgbClr val="14B8A6"/>
                </a:solidFill>
              </a:rPr>
              <a:t>−</a:t>
            </a:r>
            <a:endParaRPr lang="en-US" sz="3000" dirty="0"/>
          </a:p>
        </p:txBody>
      </p:sp>
      <p:sp>
        <p:nvSpPr>
          <p:cNvPr id="28" name="Bridge equals"/>
          <p:cNvSpPr txBox="1"/>
          <p:nvPr/>
        </p:nvSpPr>
        <p:spPr>
          <a:xfrm>
            <a:off x="5760720" y="3493008"/>
            <a:ext cx="548640" cy="548640"/>
          </a:xfrm>
          <a:prstGeom prst="rect">
            <a:avLst/>
          </a:prstGeom>
          <a:noFill/>
          <a:ln/>
        </p:spPr>
        <p:txBody>
          <a:bodyPr wrap="square" lIns="0" tIns="0" rIns="0" bIns="0" rtlCol="0" anchor="ctr"/>
          <a:lstStyle/>
          <a:p>
            <a:pPr marL="0" indent="0" algn="ctr">
              <a:buNone/>
            </a:pPr>
            <a:r>
              <a:rPr lang="en-US" sz="3000" b="1" dirty="0">
                <a:solidFill>
                  <a:srgbClr val="14B8A6"/>
                </a:solidFill>
              </a:rPr>
              <a:t>=</a:t>
            </a:r>
            <a:endParaRPr lang="en-US" sz="3000" dirty="0"/>
          </a:p>
        </p:txBody>
      </p:sp>
      <p:sp>
        <p:nvSpPr>
          <p:cNvPr id="4"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Revenue peaks at 3 PM</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Two peaks: a morning rush around 7 AM and a bigger afternoon peak at 3 PM</a:t>
            </a:r>
            <a:endParaRPr lang="en-US" sz="1600" dirty="0"/>
          </a:p>
        </p:txBody>
      </p:sp>
      <p:graphicFrame>
        <p:nvGraphicFramePr>
          <p:cNvPr id="5" name="Chart 0"/>
          <p:cNvGraphicFramePr/>
          <p:nvPr/>
        </p:nvGraphicFramePr>
        <p:xfrm>
          <a:off x="457200" y="1554480"/>
          <a:ext cx="539496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6" name="Callout 1 card"/>
          <p:cNvSpPr/>
          <p:nvPr/>
        </p:nvSpPr>
        <p:spPr>
          <a:xfrm>
            <a:off x="6126480" y="1554480"/>
            <a:ext cx="2560320" cy="1005840"/>
          </a:xfrm>
          <a:prstGeom prst="roundRect">
            <a:avLst>
              <a:gd name="adj" fmla="val 10909"/>
            </a:avLst>
          </a:prstGeom>
          <a:solidFill>
            <a:srgbClr val="F1F5F9"/>
          </a:solidFill>
          <a:ln w="12700">
            <a:solidFill>
              <a:srgbClr val="F1F5F9"/>
            </a:solidFill>
            <a:prstDash val="solid"/>
          </a:ln>
        </p:spPr>
      </p:sp>
      <p:sp>
        <p:nvSpPr>
          <p:cNvPr id="7" name="Callout 1 value"/>
          <p:cNvSpPr txBox="1"/>
          <p:nvPr/>
        </p:nvSpPr>
        <p:spPr>
          <a:xfrm>
            <a:off x="6263640" y="1645920"/>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₹4.5M</a:t>
            </a:r>
            <a:endParaRPr lang="en-US" sz="2600" dirty="0"/>
          </a:p>
        </p:txBody>
      </p:sp>
      <p:sp>
        <p:nvSpPr>
          <p:cNvPr id="8" name="Callout 1 label"/>
          <p:cNvSpPr txBox="1"/>
          <p:nvPr/>
        </p:nvSpPr>
        <p:spPr>
          <a:xfrm>
            <a:off x="6263640" y="2075688"/>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3 PM is the biggest hour</a:t>
            </a:r>
            <a:endParaRPr lang="en-US" sz="1400" dirty="0"/>
          </a:p>
        </p:txBody>
      </p:sp>
      <p:sp>
        <p:nvSpPr>
          <p:cNvPr id="9" name="Callout 2 card"/>
          <p:cNvSpPr/>
          <p:nvPr/>
        </p:nvSpPr>
        <p:spPr>
          <a:xfrm>
            <a:off x="6126480" y="2633472"/>
            <a:ext cx="2560320" cy="1005840"/>
          </a:xfrm>
          <a:prstGeom prst="roundRect">
            <a:avLst>
              <a:gd name="adj" fmla="val 10909"/>
            </a:avLst>
          </a:prstGeom>
          <a:solidFill>
            <a:srgbClr val="F1F5F9"/>
          </a:solidFill>
          <a:ln w="12700">
            <a:solidFill>
              <a:srgbClr val="F1F5F9"/>
            </a:solidFill>
            <a:prstDash val="solid"/>
          </a:ln>
        </p:spPr>
      </p:sp>
      <p:sp>
        <p:nvSpPr>
          <p:cNvPr id="10" name="Callout 2 value"/>
          <p:cNvSpPr txBox="1"/>
          <p:nvPr/>
        </p:nvSpPr>
        <p:spPr>
          <a:xfrm>
            <a:off x="6263640" y="2724912"/>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₹2.8M</a:t>
            </a:r>
            <a:endParaRPr lang="en-US" sz="2600" dirty="0"/>
          </a:p>
        </p:txBody>
      </p:sp>
      <p:sp>
        <p:nvSpPr>
          <p:cNvPr id="11" name="Callout 2 label"/>
          <p:cNvSpPr txBox="1"/>
          <p:nvPr/>
        </p:nvSpPr>
        <p:spPr>
          <a:xfrm>
            <a:off x="6263640" y="3154680"/>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7 AM is the second peak</a:t>
            </a:r>
            <a:endParaRPr lang="en-US" sz="1400" dirty="0"/>
          </a:p>
        </p:txBody>
      </p:sp>
      <p:sp>
        <p:nvSpPr>
          <p:cNvPr id="12" name="Callout 3 card"/>
          <p:cNvSpPr/>
          <p:nvPr/>
        </p:nvSpPr>
        <p:spPr>
          <a:xfrm>
            <a:off x="6126480" y="3712464"/>
            <a:ext cx="2560320" cy="1005840"/>
          </a:xfrm>
          <a:prstGeom prst="roundRect">
            <a:avLst>
              <a:gd name="adj" fmla="val 10909"/>
            </a:avLst>
          </a:prstGeom>
          <a:solidFill>
            <a:srgbClr val="F1F5F9"/>
          </a:solidFill>
          <a:ln w="12700">
            <a:solidFill>
              <a:srgbClr val="F1F5F9"/>
            </a:solidFill>
            <a:prstDash val="solid"/>
          </a:ln>
        </p:spPr>
      </p:sp>
      <p:sp>
        <p:nvSpPr>
          <p:cNvPr id="13" name="Callout 3 value"/>
          <p:cNvSpPr txBox="1"/>
          <p:nvPr/>
        </p:nvSpPr>
        <p:spPr>
          <a:xfrm>
            <a:off x="6263640" y="3803904"/>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5.6%</a:t>
            </a:r>
            <a:endParaRPr lang="en-US" sz="2600" dirty="0"/>
          </a:p>
        </p:txBody>
      </p:sp>
      <p:sp>
        <p:nvSpPr>
          <p:cNvPr id="14" name="Callout 3 label"/>
          <p:cNvSpPr txBox="1"/>
          <p:nvPr/>
        </p:nvSpPr>
        <p:spPr>
          <a:xfrm>
            <a:off x="6263640" y="4233672"/>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of revenue comes after 7 PM</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Two channels carry 84% of sales</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Revenue is concentrated in a few channels and brands, but spread across many stores</a:t>
            </a:r>
            <a:endParaRPr lang="en-US" sz="1600" dirty="0"/>
          </a:p>
        </p:txBody>
      </p:sp>
      <p:graphicFrame>
        <p:nvGraphicFramePr>
          <p:cNvPr id="5" name="Chart 0"/>
          <p:cNvGraphicFramePr/>
          <p:nvPr/>
        </p:nvGraphicFramePr>
        <p:xfrm>
          <a:off x="457200" y="1554480"/>
          <a:ext cx="539496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6" name="Callout 1 card"/>
          <p:cNvSpPr/>
          <p:nvPr/>
        </p:nvSpPr>
        <p:spPr>
          <a:xfrm>
            <a:off x="6126480" y="1554480"/>
            <a:ext cx="2560320" cy="1005840"/>
          </a:xfrm>
          <a:prstGeom prst="roundRect">
            <a:avLst>
              <a:gd name="adj" fmla="val 10909"/>
            </a:avLst>
          </a:prstGeom>
          <a:solidFill>
            <a:srgbClr val="F1F5F9"/>
          </a:solidFill>
          <a:ln w="12700">
            <a:solidFill>
              <a:srgbClr val="F1F5F9"/>
            </a:solidFill>
            <a:prstDash val="solid"/>
          </a:ln>
        </p:spPr>
      </p:sp>
      <p:sp>
        <p:nvSpPr>
          <p:cNvPr id="7" name="Callout 1 value"/>
          <p:cNvSpPr txBox="1"/>
          <p:nvPr/>
        </p:nvSpPr>
        <p:spPr>
          <a:xfrm>
            <a:off x="6263640" y="1645920"/>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84%</a:t>
            </a:r>
            <a:endParaRPr lang="en-US" sz="2600" dirty="0"/>
          </a:p>
        </p:txBody>
      </p:sp>
      <p:sp>
        <p:nvSpPr>
          <p:cNvPr id="8" name="Callout 1 label"/>
          <p:cNvSpPr txBox="1"/>
          <p:nvPr/>
        </p:nvSpPr>
        <p:spPr>
          <a:xfrm>
            <a:off x="6263640" y="2075688"/>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of revenue from Zomato and Swiggy</a:t>
            </a:r>
            <a:endParaRPr lang="en-US" sz="1400" dirty="0"/>
          </a:p>
        </p:txBody>
      </p:sp>
      <p:sp>
        <p:nvSpPr>
          <p:cNvPr id="9" name="Callout 2 card"/>
          <p:cNvSpPr/>
          <p:nvPr/>
        </p:nvSpPr>
        <p:spPr>
          <a:xfrm>
            <a:off x="6126480" y="2633472"/>
            <a:ext cx="2560320" cy="1005840"/>
          </a:xfrm>
          <a:prstGeom prst="roundRect">
            <a:avLst>
              <a:gd name="adj" fmla="val 10909"/>
            </a:avLst>
          </a:prstGeom>
          <a:solidFill>
            <a:srgbClr val="F1F5F9"/>
          </a:solidFill>
          <a:ln w="12700">
            <a:solidFill>
              <a:srgbClr val="F1F5F9"/>
            </a:solidFill>
            <a:prstDash val="solid"/>
          </a:ln>
        </p:spPr>
      </p:sp>
      <p:sp>
        <p:nvSpPr>
          <p:cNvPr id="10" name="Callout 2 value"/>
          <p:cNvSpPr txBox="1"/>
          <p:nvPr/>
        </p:nvSpPr>
        <p:spPr>
          <a:xfrm>
            <a:off x="6263640" y="2724912"/>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83.8%</a:t>
            </a:r>
            <a:endParaRPr lang="en-US" sz="2600" dirty="0"/>
          </a:p>
        </p:txBody>
      </p:sp>
      <p:sp>
        <p:nvSpPr>
          <p:cNvPr id="11" name="Callout 2 label"/>
          <p:cNvSpPr txBox="1"/>
          <p:nvPr/>
        </p:nvSpPr>
        <p:spPr>
          <a:xfrm>
            <a:off x="6263640" y="3154680"/>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of revenue from the top 10 brands</a:t>
            </a:r>
            <a:endParaRPr lang="en-US" sz="1400" dirty="0"/>
          </a:p>
        </p:txBody>
      </p:sp>
      <p:sp>
        <p:nvSpPr>
          <p:cNvPr id="12" name="Callout 3 card"/>
          <p:cNvSpPr/>
          <p:nvPr/>
        </p:nvSpPr>
        <p:spPr>
          <a:xfrm>
            <a:off x="6126480" y="3712464"/>
            <a:ext cx="2560320" cy="1005840"/>
          </a:xfrm>
          <a:prstGeom prst="roundRect">
            <a:avLst>
              <a:gd name="adj" fmla="val 10909"/>
            </a:avLst>
          </a:prstGeom>
          <a:solidFill>
            <a:srgbClr val="F1F5F9"/>
          </a:solidFill>
          <a:ln w="12700">
            <a:solidFill>
              <a:srgbClr val="F1F5F9"/>
            </a:solidFill>
            <a:prstDash val="solid"/>
          </a:ln>
        </p:spPr>
      </p:sp>
      <p:sp>
        <p:nvSpPr>
          <p:cNvPr id="13" name="Callout 3 value"/>
          <p:cNvSpPr txBox="1"/>
          <p:nvPr/>
        </p:nvSpPr>
        <p:spPr>
          <a:xfrm>
            <a:off x="6263640" y="3803904"/>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6.1%</a:t>
            </a:r>
            <a:endParaRPr lang="en-US" sz="2600" dirty="0"/>
          </a:p>
        </p:txBody>
      </p:sp>
      <p:sp>
        <p:nvSpPr>
          <p:cNvPr id="14" name="Callout 3 label"/>
          <p:cNvSpPr txBox="1"/>
          <p:nvPr/>
        </p:nvSpPr>
        <p:spPr>
          <a:xfrm>
            <a:off x="6263640" y="4233672"/>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of revenue from the top 10 stores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Discounts: Eatsure goes deepest</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Discount depth is almost double on Eatsure and Magic Pin compared with the big aggregators</a:t>
            </a:r>
            <a:endParaRPr lang="en-US" sz="1600" dirty="0"/>
          </a:p>
        </p:txBody>
      </p:sp>
      <p:graphicFrame>
        <p:nvGraphicFramePr>
          <p:cNvPr id="5" name="Chart 0"/>
          <p:cNvGraphicFramePr/>
          <p:nvPr/>
        </p:nvGraphicFramePr>
        <p:xfrm>
          <a:off x="457200" y="1554480"/>
          <a:ext cx="539496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6" name="Callout 1 card"/>
          <p:cNvSpPr/>
          <p:nvPr/>
        </p:nvSpPr>
        <p:spPr>
          <a:xfrm>
            <a:off x="6126480" y="1554480"/>
            <a:ext cx="2560320" cy="1005840"/>
          </a:xfrm>
          <a:prstGeom prst="roundRect">
            <a:avLst>
              <a:gd name="adj" fmla="val 10909"/>
            </a:avLst>
          </a:prstGeom>
          <a:solidFill>
            <a:srgbClr val="F1F5F9"/>
          </a:solidFill>
          <a:ln w="12700">
            <a:solidFill>
              <a:srgbClr val="F1F5F9"/>
            </a:solidFill>
            <a:prstDash val="solid"/>
          </a:ln>
        </p:spPr>
      </p:sp>
      <p:sp>
        <p:nvSpPr>
          <p:cNvPr id="7" name="Callout 1 value"/>
          <p:cNvSpPr txBox="1"/>
          <p:nvPr/>
        </p:nvSpPr>
        <p:spPr>
          <a:xfrm>
            <a:off x="6263640" y="1645920"/>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₹13.1M</a:t>
            </a:r>
            <a:endParaRPr lang="en-US" sz="2600" dirty="0"/>
          </a:p>
        </p:txBody>
      </p:sp>
      <p:sp>
        <p:nvSpPr>
          <p:cNvPr id="8" name="Callout 1 label"/>
          <p:cNvSpPr txBox="1"/>
          <p:nvPr/>
        </p:nvSpPr>
        <p:spPr>
          <a:xfrm>
            <a:off x="6263640" y="2075688"/>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discounts given, 25.6% of gross sales</a:t>
            </a:r>
            <a:endParaRPr lang="en-US" sz="1400" dirty="0"/>
          </a:p>
        </p:txBody>
      </p:sp>
      <p:sp>
        <p:nvSpPr>
          <p:cNvPr id="9" name="Callout 2 card"/>
          <p:cNvSpPr/>
          <p:nvPr/>
        </p:nvSpPr>
        <p:spPr>
          <a:xfrm>
            <a:off x="6126480" y="2633472"/>
            <a:ext cx="2560320" cy="1005840"/>
          </a:xfrm>
          <a:prstGeom prst="roundRect">
            <a:avLst>
              <a:gd name="adj" fmla="val 10909"/>
            </a:avLst>
          </a:prstGeom>
          <a:solidFill>
            <a:srgbClr val="F1F5F9"/>
          </a:solidFill>
          <a:ln w="12700">
            <a:solidFill>
              <a:srgbClr val="F1F5F9"/>
            </a:solidFill>
            <a:prstDash val="solid"/>
          </a:ln>
        </p:spPr>
      </p:sp>
      <p:sp>
        <p:nvSpPr>
          <p:cNvPr id="10" name="Callout 2 value"/>
          <p:cNvSpPr txBox="1"/>
          <p:nvPr/>
        </p:nvSpPr>
        <p:spPr>
          <a:xfrm>
            <a:off x="6263640" y="2724912"/>
            <a:ext cx="2286000" cy="411480"/>
          </a:xfrm>
          <a:prstGeom prst="rect">
            <a:avLst/>
          </a:prstGeom>
          <a:noFill/>
          <a:ln/>
        </p:spPr>
        <p:txBody>
          <a:bodyPr wrap="square" lIns="0" tIns="0" rIns="0" bIns="0" rtlCol="0" anchor="ctr"/>
          <a:lstStyle/>
          <a:p>
            <a:pPr marL="0" indent="0" algn="l">
              <a:buNone/>
            </a:pPr>
            <a:r>
              <a:rPr lang="en-US" sz="2200" b="1" dirty="0">
                <a:solidFill>
                  <a:srgbClr val="0B1F3A"/>
                </a:solidFill>
              </a:rPr>
              <a:t>40.7% vs 15.7%</a:t>
            </a:r>
            <a:endParaRPr lang="en-US" sz="2200" dirty="0"/>
          </a:p>
        </p:txBody>
      </p:sp>
      <p:sp>
        <p:nvSpPr>
          <p:cNvPr id="11" name="Callout 2 label"/>
          <p:cNvSpPr txBox="1"/>
          <p:nvPr/>
        </p:nvSpPr>
        <p:spPr>
          <a:xfrm>
            <a:off x="6263640" y="3154680"/>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Honest bowl vs Behrouz Biryani</a:t>
            </a:r>
            <a:endParaRPr lang="en-US" sz="1400" dirty="0"/>
          </a:p>
        </p:txBody>
      </p:sp>
      <p:sp>
        <p:nvSpPr>
          <p:cNvPr id="12" name="Callout 3 card"/>
          <p:cNvSpPr/>
          <p:nvPr/>
        </p:nvSpPr>
        <p:spPr>
          <a:xfrm>
            <a:off x="6126480" y="3712464"/>
            <a:ext cx="2560320" cy="1005840"/>
          </a:xfrm>
          <a:prstGeom prst="roundRect">
            <a:avLst>
              <a:gd name="adj" fmla="val 10909"/>
            </a:avLst>
          </a:prstGeom>
          <a:solidFill>
            <a:srgbClr val="F1F5F9"/>
          </a:solidFill>
          <a:ln w="12700">
            <a:solidFill>
              <a:srgbClr val="F1F5F9"/>
            </a:solidFill>
            <a:prstDash val="solid"/>
          </a:ln>
        </p:spPr>
      </p:sp>
      <p:sp>
        <p:nvSpPr>
          <p:cNvPr id="13" name="Callout 3 value"/>
          <p:cNvSpPr txBox="1"/>
          <p:nvPr/>
        </p:nvSpPr>
        <p:spPr>
          <a:xfrm>
            <a:off x="6263640" y="3803904"/>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₹860</a:t>
            </a:r>
            <a:endParaRPr lang="en-US" sz="2600" dirty="0"/>
          </a:p>
        </p:txBody>
      </p:sp>
      <p:sp>
        <p:nvSpPr>
          <p:cNvPr id="14" name="Callout 3 label"/>
          <p:cNvSpPr txBox="1"/>
          <p:nvPr/>
        </p:nvSpPr>
        <p:spPr>
          <a:xfrm>
            <a:off x="6263640" y="4233672"/>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average order with flat coupons, vs ₹327 with none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Cancellations follow the channel</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Top 10 cities range only from 1.6% to 3.5%, but channels range from 1.6% to 18.1%</a:t>
            </a:r>
            <a:endParaRPr lang="en-US" sz="1600" dirty="0"/>
          </a:p>
        </p:txBody>
      </p:sp>
      <p:graphicFrame>
        <p:nvGraphicFramePr>
          <p:cNvPr id="5" name="Chart 0"/>
          <p:cNvGraphicFramePr/>
          <p:nvPr/>
        </p:nvGraphicFramePr>
        <p:xfrm>
          <a:off x="457200" y="1554480"/>
          <a:ext cx="539496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6" name="Chart caption"/>
          <p:cNvSpPr txBox="1"/>
          <p:nvPr/>
        </p:nvSpPr>
        <p:spPr>
          <a:xfrm>
            <a:off x="457200" y="4434840"/>
            <a:ext cx="5394960" cy="274320"/>
          </a:xfrm>
          <a:prstGeom prst="rect">
            <a:avLst/>
          </a:prstGeom>
          <a:noFill/>
          <a:ln/>
        </p:spPr>
        <p:txBody>
          <a:bodyPr wrap="square" lIns="0" tIns="0" rIns="0" bIns="0" rtlCol="0" anchor="ctr"/>
          <a:lstStyle/>
          <a:p>
            <a:pPr marL="0" indent="0">
              <a:buNone/>
            </a:pPr>
            <a:r>
              <a:rPr lang="en-US" sz="1200" dirty="0">
                <a:solidFill>
                  <a:srgbClr val="64748B"/>
                </a:solidFill>
              </a:rPr>
              <a:t>IRCTC (160 orders) and ONDC (1,331) are small here, so read their rates as indicative</a:t>
            </a:r>
            <a:endParaRPr lang="en-US" sz="1200" dirty="0"/>
          </a:p>
        </p:txBody>
      </p:sp>
      <p:sp>
        <p:nvSpPr>
          <p:cNvPr id="7" name="Callout 1 card"/>
          <p:cNvSpPr/>
          <p:nvPr/>
        </p:nvSpPr>
        <p:spPr>
          <a:xfrm>
            <a:off x="6126480" y="1554480"/>
            <a:ext cx="2560320" cy="1005840"/>
          </a:xfrm>
          <a:prstGeom prst="roundRect">
            <a:avLst>
              <a:gd name="adj" fmla="val 10909"/>
            </a:avLst>
          </a:prstGeom>
          <a:solidFill>
            <a:srgbClr val="F1F5F9"/>
          </a:solidFill>
          <a:ln w="12700">
            <a:solidFill>
              <a:srgbClr val="F1F5F9"/>
            </a:solidFill>
            <a:prstDash val="solid"/>
          </a:ln>
        </p:spPr>
      </p:sp>
      <p:sp>
        <p:nvSpPr>
          <p:cNvPr id="8" name="Callout 1 value"/>
          <p:cNvSpPr txBox="1"/>
          <p:nvPr/>
        </p:nvSpPr>
        <p:spPr>
          <a:xfrm>
            <a:off x="6263640" y="1645920"/>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3,404</a:t>
            </a:r>
            <a:endParaRPr lang="en-US" sz="2600" dirty="0"/>
          </a:p>
        </p:txBody>
      </p:sp>
      <p:sp>
        <p:nvSpPr>
          <p:cNvPr id="9" name="Callout 1 label"/>
          <p:cNvSpPr txBox="1"/>
          <p:nvPr/>
        </p:nvSpPr>
        <p:spPr>
          <a:xfrm>
            <a:off x="6263640" y="2075688"/>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orders cancelled (2.76%)</a:t>
            </a:r>
            <a:endParaRPr lang="en-US" sz="1400" dirty="0"/>
          </a:p>
        </p:txBody>
      </p:sp>
      <p:sp>
        <p:nvSpPr>
          <p:cNvPr id="10" name="Callout 2 card"/>
          <p:cNvSpPr/>
          <p:nvPr/>
        </p:nvSpPr>
        <p:spPr>
          <a:xfrm>
            <a:off x="6126480" y="2633472"/>
            <a:ext cx="2560320" cy="1005840"/>
          </a:xfrm>
          <a:prstGeom prst="roundRect">
            <a:avLst>
              <a:gd name="adj" fmla="val 10909"/>
            </a:avLst>
          </a:prstGeom>
          <a:solidFill>
            <a:srgbClr val="F1F5F9"/>
          </a:solidFill>
          <a:ln w="12700">
            <a:solidFill>
              <a:srgbClr val="F1F5F9"/>
            </a:solidFill>
            <a:prstDash val="solid"/>
          </a:ln>
        </p:spPr>
      </p:sp>
      <p:sp>
        <p:nvSpPr>
          <p:cNvPr id="11" name="Callout 2 value"/>
          <p:cNvSpPr txBox="1"/>
          <p:nvPr/>
        </p:nvSpPr>
        <p:spPr>
          <a:xfrm>
            <a:off x="6263640" y="2724912"/>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₹1.07M</a:t>
            </a:r>
            <a:endParaRPr lang="en-US" sz="2600" dirty="0"/>
          </a:p>
        </p:txBody>
      </p:sp>
      <p:sp>
        <p:nvSpPr>
          <p:cNvPr id="12" name="Callout 2 label"/>
          <p:cNvSpPr txBox="1"/>
          <p:nvPr/>
        </p:nvSpPr>
        <p:spPr>
          <a:xfrm>
            <a:off x="6263640" y="3154680"/>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revenue lost to cancellations</a:t>
            </a:r>
            <a:endParaRPr lang="en-US" sz="1400" dirty="0"/>
          </a:p>
        </p:txBody>
      </p:sp>
      <p:sp>
        <p:nvSpPr>
          <p:cNvPr id="13" name="Callout 3 card"/>
          <p:cNvSpPr/>
          <p:nvPr/>
        </p:nvSpPr>
        <p:spPr>
          <a:xfrm>
            <a:off x="6126480" y="3712464"/>
            <a:ext cx="2560320" cy="1005840"/>
          </a:xfrm>
          <a:prstGeom prst="roundRect">
            <a:avLst>
              <a:gd name="adj" fmla="val 10909"/>
            </a:avLst>
          </a:prstGeom>
          <a:solidFill>
            <a:srgbClr val="F1F5F9"/>
          </a:solidFill>
          <a:ln w="12700">
            <a:solidFill>
              <a:srgbClr val="F1F5F9"/>
            </a:solidFill>
            <a:prstDash val="solid"/>
          </a:ln>
        </p:spPr>
      </p:sp>
      <p:sp>
        <p:nvSpPr>
          <p:cNvPr id="14" name="Callout 3 value"/>
          <p:cNvSpPr txBox="1"/>
          <p:nvPr/>
        </p:nvSpPr>
        <p:spPr>
          <a:xfrm>
            <a:off x="6263640" y="3803904"/>
            <a:ext cx="2286000" cy="411480"/>
          </a:xfrm>
          <a:prstGeom prst="rect">
            <a:avLst/>
          </a:prstGeom>
          <a:noFill/>
          <a:ln/>
        </p:spPr>
        <p:txBody>
          <a:bodyPr wrap="square" lIns="0" tIns="0" rIns="0" bIns="0" rtlCol="0" anchor="ctr"/>
          <a:lstStyle/>
          <a:p>
            <a:pPr marL="0" indent="0" algn="l">
              <a:buNone/>
            </a:pPr>
            <a:r>
              <a:rPr lang="en-US" sz="2600" b="1" dirty="0">
                <a:solidFill>
                  <a:srgbClr val="0B1F3A"/>
                </a:solidFill>
              </a:rPr>
              <a:t>52.5%</a:t>
            </a:r>
            <a:endParaRPr lang="en-US" sz="2600" dirty="0"/>
          </a:p>
        </p:txBody>
      </p:sp>
      <p:sp>
        <p:nvSpPr>
          <p:cNvPr id="15" name="Callout 3 label"/>
          <p:cNvSpPr txBox="1"/>
          <p:nvPr/>
        </p:nvSpPr>
        <p:spPr>
          <a:xfrm>
            <a:off x="6263640" y="4233672"/>
            <a:ext cx="2286000" cy="411480"/>
          </a:xfrm>
          <a:prstGeom prst="rect">
            <a:avLst/>
          </a:prstGeom>
          <a:noFill/>
          <a:ln/>
        </p:spPr>
        <p:txBody>
          <a:bodyPr wrap="square" lIns="0" tIns="0" rIns="0" bIns="0" rtlCol="0" anchor="t"/>
          <a:lstStyle/>
          <a:p>
            <a:pPr marL="0" indent="0" algn="l">
              <a:buNone/>
            </a:pPr>
            <a:r>
              <a:rPr lang="en-US" sz="1400" dirty="0">
                <a:solidFill>
                  <a:srgbClr val="64748B"/>
                </a:solidFill>
              </a:rPr>
              <a:t>of cancellations are third-party</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When and where orders fail</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Cancellations rise early morning and after 5 PM; five stores (100+ orders) stand out</a:t>
            </a:r>
            <a:endParaRPr lang="en-US" sz="1600" dirty="0"/>
          </a:p>
        </p:txBody>
      </p:sp>
      <p:graphicFrame>
        <p:nvGraphicFramePr>
          <p:cNvPr id="5" name="Chart 0"/>
          <p:cNvGraphicFramePr/>
          <p:nvPr/>
        </p:nvGraphicFramePr>
        <p:xfrm>
          <a:off x="457200" y="1554480"/>
          <a:ext cx="411480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754880" y="1554480"/>
          <a:ext cx="3931920"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7" name="Order type band"/>
          <p:cNvSpPr/>
          <p:nvPr/>
        </p:nvSpPr>
        <p:spPr>
          <a:xfrm>
            <a:off x="457200" y="4206240"/>
            <a:ext cx="8229600" cy="502920"/>
          </a:xfrm>
          <a:prstGeom prst="roundRect">
            <a:avLst>
              <a:gd name="adj" fmla="val 21818"/>
            </a:avLst>
          </a:prstGeom>
          <a:solidFill>
            <a:srgbClr val="0B1F3A"/>
          </a:solidFill>
          <a:ln w="12700">
            <a:solidFill>
              <a:srgbClr val="0B1F3A"/>
            </a:solidFill>
            <a:prstDash val="solid"/>
          </a:ln>
        </p:spPr>
      </p:sp>
      <p:sp>
        <p:nvSpPr>
          <p:cNvPr id="8" name="Order type fact"/>
          <p:cNvSpPr txBox="1"/>
          <p:nvPr/>
        </p:nvSpPr>
        <p:spPr>
          <a:xfrm>
            <a:off x="685800" y="4224528"/>
            <a:ext cx="7772400" cy="457200"/>
          </a:xfrm>
          <a:prstGeom prst="rect">
            <a:avLst/>
          </a:prstGeom>
          <a:noFill/>
          <a:ln/>
        </p:spPr>
        <p:txBody>
          <a:bodyPr wrap="square" lIns="0" tIns="0" rIns="0" bIns="0" rtlCol="0" anchor="ctr"/>
          <a:lstStyle/>
          <a:p>
            <a:pPr marL="0" indent="0">
              <a:buNone/>
            </a:pPr>
            <a:r>
              <a:rPr lang="en-US" sz="1600" b="1" dirty="0">
                <a:solidFill>
                  <a:srgbClr val="FFFFFF"/>
                </a:solidFill>
              </a:rPr>
              <a:t>Delivery orders cancel at 6.3%, pickup orders at 1.9%</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Recommendations</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Five actions, each tied to a finding</a:t>
            </a:r>
            <a:endParaRPr lang="en-US" sz="1600" dirty="0"/>
          </a:p>
        </p:txBody>
      </p:sp>
      <p:sp>
        <p:nvSpPr>
          <p:cNvPr id="5" name="Recommendation card 1"/>
          <p:cNvSpPr/>
          <p:nvPr/>
        </p:nvSpPr>
        <p:spPr>
          <a:xfrm>
            <a:off x="457200" y="1508760"/>
            <a:ext cx="8229600" cy="566928"/>
          </a:xfrm>
          <a:prstGeom prst="roundRect">
            <a:avLst>
              <a:gd name="adj" fmla="val 19355"/>
            </a:avLst>
          </a:prstGeom>
          <a:solidFill>
            <a:srgbClr val="F1F5F9"/>
          </a:solidFill>
          <a:ln w="12700">
            <a:solidFill>
              <a:srgbClr val="F1F5F9"/>
            </a:solidFill>
            <a:prstDash val="solid"/>
          </a:ln>
        </p:spPr>
      </p:sp>
      <p:sp>
        <p:nvSpPr>
          <p:cNvPr id="6" name="Rec badge 1"/>
          <p:cNvSpPr/>
          <p:nvPr/>
        </p:nvSpPr>
        <p:spPr>
          <a:xfrm>
            <a:off x="594360" y="1609344"/>
            <a:ext cx="365760" cy="365760"/>
          </a:xfrm>
          <a:prstGeom prst="ellipse">
            <a:avLst/>
          </a:prstGeom>
          <a:solidFill>
            <a:srgbClr val="14B8A6"/>
          </a:solidFill>
          <a:ln w="12700">
            <a:solidFill>
              <a:srgbClr val="14B8A6"/>
            </a:solidFill>
            <a:prstDash val="solid"/>
          </a:ln>
        </p:spPr>
      </p:sp>
      <p:sp>
        <p:nvSpPr>
          <p:cNvPr id="7" name="Rec number 1"/>
          <p:cNvSpPr txBox="1"/>
          <p:nvPr/>
        </p:nvSpPr>
        <p:spPr>
          <a:xfrm>
            <a:off x="594360" y="160934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8" name="Recommendation text 1"/>
          <p:cNvSpPr txBox="1"/>
          <p:nvPr/>
        </p:nvSpPr>
        <p:spPr>
          <a:xfrm>
            <a:off x="1097280" y="1545336"/>
            <a:ext cx="7452360" cy="493776"/>
          </a:xfrm>
          <a:prstGeom prst="rect">
            <a:avLst/>
          </a:prstGeom>
          <a:noFill/>
          <a:ln/>
        </p:spPr>
        <p:txBody>
          <a:bodyPr wrap="square" lIns="0" tIns="0" rIns="0" bIns="0" rtlCol="0" anchor="ctr"/>
          <a:lstStyle/>
          <a:p>
            <a:pPr marL="0" indent="0">
              <a:buNone/>
            </a:pPr>
            <a:r>
              <a:rPr lang="en-US" sz="1400" b="1" dirty="0">
                <a:solidFill>
                  <a:srgbClr val="0B1F3A"/>
                </a:solidFill>
              </a:rPr>
              <a:t>Review Eatsure discounting: </a:t>
            </a:r>
            <a:r>
              <a:rPr lang="en-US" sz="1400" dirty="0">
                <a:solidFill>
                  <a:srgbClr val="64748B"/>
                </a:solidFill>
              </a:rPr>
              <a:t>42% depth against about 23% on Zomato and Swiggy, with the smallest baskets; test minimum cart values.</a:t>
            </a:r>
            <a:endParaRPr lang="en-US" sz="1400" dirty="0"/>
          </a:p>
        </p:txBody>
      </p:sp>
      <p:sp>
        <p:nvSpPr>
          <p:cNvPr id="9" name="Recommendation card 2"/>
          <p:cNvSpPr/>
          <p:nvPr/>
        </p:nvSpPr>
        <p:spPr>
          <a:xfrm>
            <a:off x="457200" y="2148840"/>
            <a:ext cx="8229600" cy="566928"/>
          </a:xfrm>
          <a:prstGeom prst="roundRect">
            <a:avLst>
              <a:gd name="adj" fmla="val 19355"/>
            </a:avLst>
          </a:prstGeom>
          <a:solidFill>
            <a:srgbClr val="F1F5F9"/>
          </a:solidFill>
          <a:ln w="12700">
            <a:solidFill>
              <a:srgbClr val="F1F5F9"/>
            </a:solidFill>
            <a:prstDash val="solid"/>
          </a:ln>
        </p:spPr>
      </p:sp>
      <p:sp>
        <p:nvSpPr>
          <p:cNvPr id="10" name="Rec badge 2"/>
          <p:cNvSpPr/>
          <p:nvPr/>
        </p:nvSpPr>
        <p:spPr>
          <a:xfrm>
            <a:off x="594360" y="2249424"/>
            <a:ext cx="365760" cy="365760"/>
          </a:xfrm>
          <a:prstGeom prst="ellipse">
            <a:avLst/>
          </a:prstGeom>
          <a:solidFill>
            <a:srgbClr val="14B8A6"/>
          </a:solidFill>
          <a:ln w="12700">
            <a:solidFill>
              <a:srgbClr val="14B8A6"/>
            </a:solidFill>
            <a:prstDash val="solid"/>
          </a:ln>
        </p:spPr>
      </p:sp>
      <p:sp>
        <p:nvSpPr>
          <p:cNvPr id="11" name="Rec number 2"/>
          <p:cNvSpPr txBox="1"/>
          <p:nvPr/>
        </p:nvSpPr>
        <p:spPr>
          <a:xfrm>
            <a:off x="594360" y="22494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2" name="Recommendation text 2"/>
          <p:cNvSpPr txBox="1"/>
          <p:nvPr/>
        </p:nvSpPr>
        <p:spPr>
          <a:xfrm>
            <a:off x="1097280" y="2185416"/>
            <a:ext cx="7452360" cy="493776"/>
          </a:xfrm>
          <a:prstGeom prst="rect">
            <a:avLst/>
          </a:prstGeom>
          <a:noFill/>
          <a:ln/>
        </p:spPr>
        <p:txBody>
          <a:bodyPr wrap="square" lIns="0" tIns="0" rIns="0" bIns="0" rtlCol="0" anchor="ctr"/>
          <a:lstStyle/>
          <a:p>
            <a:pPr marL="0" indent="0">
              <a:buNone/>
            </a:pPr>
            <a:r>
              <a:rPr lang="en-US" sz="1400" b="1" dirty="0">
                <a:solidFill>
                  <a:srgbClr val="0B1F3A"/>
                </a:solidFill>
              </a:rPr>
              <a:t>Fix third-party cancellations: </a:t>
            </a:r>
            <a:r>
              <a:rPr lang="en-US" sz="1400" dirty="0">
                <a:solidFill>
                  <a:srgbClr val="64748B"/>
                </a:solidFill>
              </a:rPr>
              <a:t>Over half of cancellations are third-party; share the top reasons with the Zomato and Swiggy account teams.</a:t>
            </a:r>
            <a:endParaRPr lang="en-US" sz="1400" dirty="0"/>
          </a:p>
        </p:txBody>
      </p:sp>
      <p:sp>
        <p:nvSpPr>
          <p:cNvPr id="13" name="Recommendation card 3"/>
          <p:cNvSpPr/>
          <p:nvPr/>
        </p:nvSpPr>
        <p:spPr>
          <a:xfrm>
            <a:off x="457200" y="2788920"/>
            <a:ext cx="8229600" cy="566928"/>
          </a:xfrm>
          <a:prstGeom prst="roundRect">
            <a:avLst>
              <a:gd name="adj" fmla="val 19355"/>
            </a:avLst>
          </a:prstGeom>
          <a:solidFill>
            <a:srgbClr val="F1F5F9"/>
          </a:solidFill>
          <a:ln w="12700">
            <a:solidFill>
              <a:srgbClr val="F1F5F9"/>
            </a:solidFill>
            <a:prstDash val="solid"/>
          </a:ln>
        </p:spPr>
      </p:sp>
      <p:sp>
        <p:nvSpPr>
          <p:cNvPr id="14" name="Rec badge 3"/>
          <p:cNvSpPr/>
          <p:nvPr/>
        </p:nvSpPr>
        <p:spPr>
          <a:xfrm>
            <a:off x="594360" y="2889504"/>
            <a:ext cx="365760" cy="365760"/>
          </a:xfrm>
          <a:prstGeom prst="ellipse">
            <a:avLst/>
          </a:prstGeom>
          <a:solidFill>
            <a:srgbClr val="14B8A6"/>
          </a:solidFill>
          <a:ln w="12700">
            <a:solidFill>
              <a:srgbClr val="14B8A6"/>
            </a:solidFill>
            <a:prstDash val="solid"/>
          </a:ln>
        </p:spPr>
      </p:sp>
      <p:sp>
        <p:nvSpPr>
          <p:cNvPr id="15" name="Rec number 3"/>
          <p:cNvSpPr txBox="1"/>
          <p:nvPr/>
        </p:nvSpPr>
        <p:spPr>
          <a:xfrm>
            <a:off x="594360" y="288950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6" name="Recommendation text 3"/>
          <p:cNvSpPr txBox="1"/>
          <p:nvPr/>
        </p:nvSpPr>
        <p:spPr>
          <a:xfrm>
            <a:off x="1097280" y="2825496"/>
            <a:ext cx="7452360" cy="493776"/>
          </a:xfrm>
          <a:prstGeom prst="rect">
            <a:avLst/>
          </a:prstGeom>
          <a:noFill/>
          <a:ln/>
        </p:spPr>
        <p:txBody>
          <a:bodyPr wrap="square" lIns="0" tIns="0" rIns="0" bIns="0" rtlCol="0" anchor="ctr"/>
          <a:lstStyle/>
          <a:p>
            <a:pPr marL="0" indent="0">
              <a:buNone/>
            </a:pPr>
            <a:r>
              <a:rPr lang="en-US" sz="1400" b="1" dirty="0">
                <a:solidFill>
                  <a:srgbClr val="0B1F3A"/>
                </a:solidFill>
              </a:rPr>
              <a:t>Audit the riskiest stores: </a:t>
            </a:r>
            <a:r>
              <a:rPr lang="en-US" sz="1400" dirty="0">
                <a:solidFill>
                  <a:srgbClr val="64748B"/>
                </a:solidFill>
              </a:rPr>
              <a:t>Salem (17.6%), Paschim Vihar, Anisabad, Solapur and Amritsar cantt cancel far above the 2.8% average.</a:t>
            </a:r>
            <a:endParaRPr lang="en-US" sz="1400" dirty="0"/>
          </a:p>
        </p:txBody>
      </p:sp>
      <p:sp>
        <p:nvSpPr>
          <p:cNvPr id="17" name="Recommendation card 4"/>
          <p:cNvSpPr/>
          <p:nvPr/>
        </p:nvSpPr>
        <p:spPr>
          <a:xfrm>
            <a:off x="457200" y="3429000"/>
            <a:ext cx="8229600" cy="566928"/>
          </a:xfrm>
          <a:prstGeom prst="roundRect">
            <a:avLst>
              <a:gd name="adj" fmla="val 19355"/>
            </a:avLst>
          </a:prstGeom>
          <a:solidFill>
            <a:srgbClr val="F1F5F9"/>
          </a:solidFill>
          <a:ln w="12700">
            <a:solidFill>
              <a:srgbClr val="F1F5F9"/>
            </a:solidFill>
            <a:prstDash val="solid"/>
          </a:ln>
        </p:spPr>
      </p:sp>
      <p:sp>
        <p:nvSpPr>
          <p:cNvPr id="18" name="Rec badge 4"/>
          <p:cNvSpPr/>
          <p:nvPr/>
        </p:nvSpPr>
        <p:spPr>
          <a:xfrm>
            <a:off x="594360" y="3529584"/>
            <a:ext cx="365760" cy="365760"/>
          </a:xfrm>
          <a:prstGeom prst="ellipse">
            <a:avLst/>
          </a:prstGeom>
          <a:solidFill>
            <a:srgbClr val="14B8A6"/>
          </a:solidFill>
          <a:ln w="12700">
            <a:solidFill>
              <a:srgbClr val="14B8A6"/>
            </a:solidFill>
            <a:prstDash val="solid"/>
          </a:ln>
        </p:spPr>
      </p:sp>
      <p:sp>
        <p:nvSpPr>
          <p:cNvPr id="19" name="Rec number 4"/>
          <p:cNvSpPr txBox="1"/>
          <p:nvPr/>
        </p:nvSpPr>
        <p:spPr>
          <a:xfrm>
            <a:off x="594360" y="352958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0" name="Recommendation text 4"/>
          <p:cNvSpPr txBox="1"/>
          <p:nvPr/>
        </p:nvSpPr>
        <p:spPr>
          <a:xfrm>
            <a:off x="1097280" y="3465576"/>
            <a:ext cx="7452360" cy="493776"/>
          </a:xfrm>
          <a:prstGeom prst="rect">
            <a:avLst/>
          </a:prstGeom>
          <a:noFill/>
          <a:ln/>
        </p:spPr>
        <p:txBody>
          <a:bodyPr wrap="square" lIns="0" tIns="0" rIns="0" bIns="0" rtlCol="0" anchor="ctr"/>
          <a:lstStyle/>
          <a:p>
            <a:pPr marL="0" indent="0">
              <a:buNone/>
            </a:pPr>
            <a:r>
              <a:rPr lang="en-US" sz="1400" b="1" dirty="0">
                <a:solidFill>
                  <a:srgbClr val="0B1F3A"/>
                </a:solidFill>
              </a:rPr>
              <a:t>Staff for the peaks: </a:t>
            </a:r>
            <a:r>
              <a:rPr lang="en-US" sz="1400" dirty="0">
                <a:solidFill>
                  <a:srgbClr val="64748B"/>
                </a:solidFill>
              </a:rPr>
              <a:t>Prepare for 7 AM and 3 PM, and check capacity after 5 PM when cancellations rise.</a:t>
            </a:r>
            <a:endParaRPr lang="en-US" sz="1400" dirty="0"/>
          </a:p>
        </p:txBody>
      </p:sp>
      <p:sp>
        <p:nvSpPr>
          <p:cNvPr id="21" name="Recommendation card 5"/>
          <p:cNvSpPr/>
          <p:nvPr/>
        </p:nvSpPr>
        <p:spPr>
          <a:xfrm>
            <a:off x="457200" y="4069080"/>
            <a:ext cx="8229600" cy="566928"/>
          </a:xfrm>
          <a:prstGeom prst="roundRect">
            <a:avLst>
              <a:gd name="adj" fmla="val 19355"/>
            </a:avLst>
          </a:prstGeom>
          <a:solidFill>
            <a:srgbClr val="F1F5F9"/>
          </a:solidFill>
          <a:ln w="12700">
            <a:solidFill>
              <a:srgbClr val="F1F5F9"/>
            </a:solidFill>
            <a:prstDash val="solid"/>
          </a:ln>
        </p:spPr>
      </p:sp>
      <p:sp>
        <p:nvSpPr>
          <p:cNvPr id="22" name="Rec badge 5"/>
          <p:cNvSpPr/>
          <p:nvPr/>
        </p:nvSpPr>
        <p:spPr>
          <a:xfrm>
            <a:off x="594360" y="4169664"/>
            <a:ext cx="365760" cy="365760"/>
          </a:xfrm>
          <a:prstGeom prst="ellipse">
            <a:avLst/>
          </a:prstGeom>
          <a:solidFill>
            <a:srgbClr val="14B8A6"/>
          </a:solidFill>
          <a:ln w="12700">
            <a:solidFill>
              <a:srgbClr val="14B8A6"/>
            </a:solidFill>
            <a:prstDash val="solid"/>
          </a:ln>
        </p:spPr>
      </p:sp>
      <p:sp>
        <p:nvSpPr>
          <p:cNvPr id="23" name="Rec number 5"/>
          <p:cNvSpPr txBox="1"/>
          <p:nvPr/>
        </p:nvSpPr>
        <p:spPr>
          <a:xfrm>
            <a:off x="594360" y="416966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4" name="Recommendation text 5"/>
          <p:cNvSpPr txBox="1"/>
          <p:nvPr/>
        </p:nvSpPr>
        <p:spPr>
          <a:xfrm>
            <a:off x="1097280" y="4105656"/>
            <a:ext cx="7452360" cy="493776"/>
          </a:xfrm>
          <a:prstGeom prst="rect">
            <a:avLst/>
          </a:prstGeom>
          <a:noFill/>
          <a:ln/>
        </p:spPr>
        <p:txBody>
          <a:bodyPr wrap="square" lIns="0" tIns="0" rIns="0" bIns="0" rtlCol="0" anchor="ctr"/>
          <a:lstStyle/>
          <a:p>
            <a:pPr marL="0" indent="0">
              <a:buNone/>
            </a:pPr>
            <a:r>
              <a:rPr lang="en-US" sz="1400" b="1" dirty="0">
                <a:solidFill>
                  <a:srgbClr val="0B1F3A"/>
                </a:solidFill>
              </a:rPr>
              <a:t>Watch IRCTC and ONDC: </a:t>
            </a:r>
            <a:r>
              <a:rPr lang="en-US" sz="1400" dirty="0">
                <a:solidFill>
                  <a:srgbClr val="64748B"/>
                </a:solidFill>
              </a:rPr>
              <a:t>Their rates are high but volumes are small; track them on more data before changing anything.</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Limitations and next steps</a:t>
            </a:r>
            <a:endParaRPr lang="en-US" sz="3400" dirty="0"/>
          </a:p>
        </p:txBody>
      </p:sp>
      <p:sp>
        <p:nvSpPr>
          <p:cNvPr id="3" name="Text 0"/>
          <p:cNvSpPr>
            <a:spLocks noGrp="1"/>
          </p:cNvSpPr>
          <p:nvPr>
            <p:ph type="body" idx="101" hasCustomPrompt="1"/>
          </p:nvPr>
        </p:nvSpPr>
        <p:spPr>
          <a:xfrm>
            <a:off x="457200" y="960120"/>
            <a:ext cx="8229600" cy="457200"/>
          </a:xfrm>
          <a:prstGeom prst="rect">
            <a:avLst/>
          </a:prstGeom>
          <a:noFill/>
          <a:ln/>
        </p:spPr>
        <p:txBody>
          <a:bodyPr wrap="square" lIns="0" tIns="0" rIns="0" bIns="0" rtlCol="0" anchor="t"/>
          <a:lstStyle/>
          <a:p>
            <a:pPr marL="0" indent="0" algn="l">
              <a:buNone/>
            </a:pPr>
            <a:r>
              <a:rPr lang="en-US" sz="1600" dirty="0">
                <a:solidFill>
                  <a:schemeClr val="accent5"/>
                </a:solidFill>
              </a:rPr>
              <a:t>What this data can and cannot tell us</a:t>
            </a:r>
            <a:endParaRPr lang="en-US" sz="1600" dirty="0"/>
          </a:p>
        </p:txBody>
      </p:sp>
      <p:sp>
        <p:nvSpPr>
          <p:cNvPr id="5" name="Limits card"/>
          <p:cNvSpPr/>
          <p:nvPr/>
        </p:nvSpPr>
        <p:spPr>
          <a:xfrm>
            <a:off x="457200" y="1554480"/>
            <a:ext cx="4023360" cy="3154680"/>
          </a:xfrm>
          <a:prstGeom prst="roundRect">
            <a:avLst>
              <a:gd name="adj" fmla="val 3478"/>
            </a:avLst>
          </a:prstGeom>
          <a:solidFill>
            <a:srgbClr val="F1F5F9"/>
          </a:solidFill>
          <a:ln w="12700">
            <a:solidFill>
              <a:srgbClr val="F1F5F9"/>
            </a:solidFill>
            <a:prstDash val="solid"/>
          </a:ln>
        </p:spPr>
      </p:sp>
      <p:sp>
        <p:nvSpPr>
          <p:cNvPr id="6" name="Limits header"/>
          <p:cNvSpPr txBox="1"/>
          <p:nvPr/>
        </p:nvSpPr>
        <p:spPr>
          <a:xfrm>
            <a:off x="685800" y="1664208"/>
            <a:ext cx="3566160" cy="365760"/>
          </a:xfrm>
          <a:prstGeom prst="rect">
            <a:avLst/>
          </a:prstGeom>
          <a:noFill/>
          <a:ln/>
        </p:spPr>
        <p:txBody>
          <a:bodyPr wrap="square" lIns="0" tIns="0" rIns="0" bIns="0" rtlCol="0" anchor="ctr"/>
          <a:lstStyle/>
          <a:p>
            <a:pPr marL="0" indent="0">
              <a:buNone/>
            </a:pPr>
            <a:r>
              <a:rPr lang="en-US" sz="2000" b="1" dirty="0">
                <a:solidFill>
                  <a:srgbClr val="0B1F3A"/>
                </a:solidFill>
              </a:rPr>
              <a:t>Limitations</a:t>
            </a:r>
            <a:endParaRPr lang="en-US" sz="2000" dirty="0"/>
          </a:p>
        </p:txBody>
      </p:sp>
      <p:sp>
        <p:nvSpPr>
          <p:cNvPr id="7" name="Limits list"/>
          <p:cNvSpPr txBox="1"/>
          <p:nvPr/>
        </p:nvSpPr>
        <p:spPr>
          <a:xfrm>
            <a:off x="685800" y="2103120"/>
            <a:ext cx="356616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1F3A"/>
                </a:solidFill>
              </a:rPr>
              <a:t>One trading day (22 Jan 2026): no MoM, YoY or trend view</a:t>
            </a:r>
            <a:endParaRPr lang="en-US" sz="1400" dirty="0"/>
          </a:p>
          <a:p>
            <a:pPr marL="342900" indent="-342900">
              <a:spcAft>
                <a:spcPts val="600"/>
              </a:spcAft>
              <a:buSzPct val="100000"/>
              <a:buChar char="•"/>
            </a:pPr>
            <a:r>
              <a:rPr lang="en-US" sz="1400" dirty="0">
                <a:solidFill>
                  <a:srgbClr val="0B1F3A"/>
                </a:solidFill>
              </a:rPr>
              <a:t>No customer ID: no churn or repeat-order analysis</a:t>
            </a:r>
            <a:endParaRPr lang="en-US" sz="1400" dirty="0"/>
          </a:p>
          <a:p>
            <a:pPr marL="342900" indent="-342900">
              <a:spcAft>
                <a:spcPts val="600"/>
              </a:spcAft>
              <a:buSzPct val="100000"/>
              <a:buChar char="•"/>
            </a:pPr>
            <a:r>
              <a:rPr lang="en-US" sz="1400" dirty="0">
                <a:solidFill>
                  <a:srgbClr val="0B1F3A"/>
                </a:solidFill>
              </a:rPr>
              <a:t>No item or cost data: brand is the lowest level, no profit view</a:t>
            </a:r>
            <a:endParaRPr lang="en-US" sz="1400" dirty="0"/>
          </a:p>
          <a:p>
            <a:pPr marL="342900" indent="-342900">
              <a:spcAft>
                <a:spcPts val="600"/>
              </a:spcAft>
              <a:buSzPct val="100000"/>
              <a:buChar char="•"/>
            </a:pPr>
            <a:r>
              <a:rPr lang="en-US" sz="1400" dirty="0">
                <a:solidFill>
                  <a:srgbClr val="0B1F3A"/>
                </a:solidFill>
              </a:rPr>
              <a:t>load_time and otd are unclear and partly blank, so no on-time claims</a:t>
            </a:r>
            <a:endParaRPr lang="en-US" sz="1400" dirty="0"/>
          </a:p>
          <a:p>
            <a:pPr marL="342900" indent="-342900">
              <a:spcAft>
                <a:spcPts val="600"/>
              </a:spcAft>
              <a:buSzPct val="100000"/>
              <a:buChar char="•"/>
            </a:pPr>
            <a:r>
              <a:rPr lang="en-US" sz="1400" dirty="0">
                <a:solidFill>
                  <a:srgbClr val="0B1F3A"/>
                </a:solidFill>
              </a:rPr>
              <a:t>Evening drop after 7 PM needs checking against the source system</a:t>
            </a:r>
            <a:endParaRPr lang="en-US" sz="1400" dirty="0"/>
          </a:p>
        </p:txBody>
      </p:sp>
      <p:sp>
        <p:nvSpPr>
          <p:cNvPr id="8" name="Next card"/>
          <p:cNvSpPr/>
          <p:nvPr/>
        </p:nvSpPr>
        <p:spPr>
          <a:xfrm>
            <a:off x="4663440" y="1554480"/>
            <a:ext cx="4023360" cy="3154680"/>
          </a:xfrm>
          <a:prstGeom prst="roundRect">
            <a:avLst>
              <a:gd name="adj" fmla="val 3478"/>
            </a:avLst>
          </a:prstGeom>
          <a:solidFill>
            <a:srgbClr val="F1F5F9"/>
          </a:solidFill>
          <a:ln w="12700">
            <a:solidFill>
              <a:srgbClr val="F1F5F9"/>
            </a:solidFill>
            <a:prstDash val="solid"/>
          </a:ln>
        </p:spPr>
      </p:sp>
      <p:sp>
        <p:nvSpPr>
          <p:cNvPr id="9" name="Next header"/>
          <p:cNvSpPr txBox="1"/>
          <p:nvPr/>
        </p:nvSpPr>
        <p:spPr>
          <a:xfrm>
            <a:off x="4892040" y="1664208"/>
            <a:ext cx="3566160" cy="365760"/>
          </a:xfrm>
          <a:prstGeom prst="rect">
            <a:avLst/>
          </a:prstGeom>
          <a:noFill/>
          <a:ln/>
        </p:spPr>
        <p:txBody>
          <a:bodyPr wrap="square" lIns="0" tIns="0" rIns="0" bIns="0" rtlCol="0" anchor="ctr"/>
          <a:lstStyle/>
          <a:p>
            <a:pPr marL="0" indent="0">
              <a:buNone/>
            </a:pPr>
            <a:r>
              <a:rPr lang="en-US" sz="2000" b="1" dirty="0">
                <a:solidFill>
                  <a:srgbClr val="0B1F3A"/>
                </a:solidFill>
              </a:rPr>
              <a:t>Next steps</a:t>
            </a:r>
            <a:endParaRPr lang="en-US" sz="2000" dirty="0"/>
          </a:p>
        </p:txBody>
      </p:sp>
      <p:sp>
        <p:nvSpPr>
          <p:cNvPr id="10" name="Next list"/>
          <p:cNvSpPr txBox="1"/>
          <p:nvPr/>
        </p:nvSpPr>
        <p:spPr>
          <a:xfrm>
            <a:off x="4892040" y="2103120"/>
            <a:ext cx="356616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1F3A"/>
                </a:solidFill>
              </a:rPr>
              <a:t>Load several months of data; the MoM, YoY and YTD measures are already written</a:t>
            </a:r>
            <a:endParaRPr lang="en-US" sz="1400" dirty="0"/>
          </a:p>
          <a:p>
            <a:pPr marL="342900" indent="-342900">
              <a:spcAft>
                <a:spcPts val="600"/>
              </a:spcAft>
              <a:buSzPct val="100000"/>
              <a:buChar char="•"/>
            </a:pPr>
            <a:r>
              <a:rPr lang="en-US" sz="1400" dirty="0">
                <a:solidFill>
                  <a:srgbClr val="0B1F3A"/>
                </a:solidFill>
              </a:rPr>
              <a:t>Add a customer ID to measure retention and churn</a:t>
            </a:r>
            <a:endParaRPr lang="en-US" sz="1400" dirty="0"/>
          </a:p>
          <a:p>
            <a:pPr marL="342900" indent="-342900">
              <a:spcAft>
                <a:spcPts val="600"/>
              </a:spcAft>
              <a:buSzPct val="100000"/>
              <a:buChar char="•"/>
            </a:pPr>
            <a:r>
              <a:rPr lang="en-US" sz="1400" dirty="0">
                <a:solidFill>
                  <a:srgbClr val="0B1F3A"/>
                </a:solidFill>
              </a:rPr>
              <a:t>Add item and cost data for menu and margin analysis</a:t>
            </a:r>
            <a:endParaRPr lang="en-US" sz="1400" dirty="0"/>
          </a:p>
          <a:p>
            <a:pPr marL="342900" indent="-342900">
              <a:spcAft>
                <a:spcPts val="600"/>
              </a:spcAft>
              <a:buSzPct val="100000"/>
              <a:buChar char="•"/>
            </a:pPr>
            <a:r>
              <a:rPr lang="en-US" sz="1400" dirty="0">
                <a:solidFill>
                  <a:srgbClr val="0B1F3A"/>
                </a:solidFill>
              </a:rPr>
              <a:t>Automate the Python cleaning and schedule the Power BI refresh</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7863840" cy="1097280"/>
          </a:xfrm>
          <a:prstGeom prst="rect">
            <a:avLst/>
          </a:prstGeom>
          <a:noFill/>
          <a:ln/>
        </p:spPr>
        <p:txBody>
          <a:bodyPr wrap="square" lIns="0" tIns="0" rIns="0" bIns="0" rtlCol="0" anchor="b"/>
          <a:lstStyle/>
          <a:p>
            <a:pPr marL="0" indent="0" algn="l">
              <a:buNone/>
            </a:pPr>
            <a:r>
              <a:rPr lang="en-US" sz="4400" b="1" dirty="0">
                <a:solidFill>
                  <a:schemeClr val="bg1"/>
                </a:solidFill>
              </a:rPr>
              <a:t>Thank you</a:t>
            </a:r>
            <a:endParaRPr lang="en-US" sz="4400" dirty="0"/>
          </a:p>
        </p:txBody>
      </p:sp>
      <p:sp>
        <p:nvSpPr>
          <p:cNvPr id="3" name="Text 0"/>
          <p:cNvSpPr>
            <a:spLocks noGrp="1"/>
          </p:cNvSpPr>
          <p:nvPr>
            <p:ph type="body" idx="101" hasCustomPrompt="1"/>
          </p:nvPr>
        </p:nvSpPr>
        <p:spPr>
          <a:xfrm>
            <a:off x="640080" y="2788920"/>
            <a:ext cx="7863840" cy="914400"/>
          </a:xfrm>
          <a:prstGeom prst="rect">
            <a:avLst/>
          </a:prstGeom>
          <a:noFill/>
          <a:ln/>
        </p:spPr>
        <p:txBody>
          <a:bodyPr wrap="square" lIns="0" tIns="0" rIns="0" bIns="0" rtlCol="0" anchor="t"/>
          <a:lstStyle/>
          <a:p>
            <a:pPr marL="0" indent="0" algn="l">
              <a:buNone/>
            </a:pPr>
            <a:r>
              <a:rPr lang="en-US" sz="2000" dirty="0">
                <a:solidFill>
                  <a:schemeClr val="bg2"/>
                </a:solidFill>
              </a:rPr>
              <a:t>Questions and discussion</a:t>
            </a:r>
            <a:endParaRPr lang="en-US" sz="2000" dirty="0"/>
          </a:p>
        </p:txBody>
      </p:sp>
      <p:sp>
        <p:nvSpPr>
          <p:cNvPr id="5" name="Decor circle"/>
          <p:cNvSpPr/>
          <p:nvPr/>
        </p:nvSpPr>
        <p:spPr>
          <a:xfrm>
            <a:off x="6949440" y="3017520"/>
            <a:ext cx="2011680" cy="2011680"/>
          </a:xfrm>
          <a:prstGeom prst="ellipse">
            <a:avLst/>
          </a:prstGeom>
          <a:solidFill>
            <a:srgbClr val="14B8A6">
              <a:alpha val="25000"/>
            </a:srgbClr>
          </a:solidFill>
          <a:ln w="12700">
            <a:solidFill>
              <a:srgbClr val="14B8A6"/>
            </a:solidFill>
            <a:prstDash val="solid"/>
          </a:ln>
        </p:spPr>
      </p:sp>
    </p:spTree>
  </p:cSld>
  <p:clrMapOvr>
    <a:masterClrMapping/>
  </p:clrMapOvr>
</p:sld>
</file>

<file path=ppt/theme/theme1.xml><?xml version="1.0" encoding="utf-8"?>
<a:theme xmlns:a="http://schemas.openxmlformats.org/drawingml/2006/main" name="CloudKitchen Insights">
  <a:themeElements>
    <a:clrScheme name="CloudKitchen Insights">
      <a:dk1>
        <a:srgbClr val="0B1F3A"/>
      </a:dk1>
      <a:lt1>
        <a:srgbClr val="FFFFFF"/>
      </a:lt1>
      <a:dk2>
        <a:srgbClr val="13294B"/>
      </a:dk2>
      <a:lt2>
        <a:srgbClr val="F1F5F9"/>
      </a:lt2>
      <a:accent1>
        <a:srgbClr val="14B8A6"/>
      </a:accent1>
      <a:accent2>
        <a:srgbClr val="F59E0B"/>
      </a:accent2>
      <a:accent3>
        <a:srgbClr val="EF4444"/>
      </a:accent3>
      <a:accent4>
        <a:srgbClr val="3B82F6"/>
      </a:accent4>
      <a:accent5>
        <a:srgbClr val="64748B"/>
      </a:accent5>
      <a:accent6>
        <a:srgbClr val="8B5CF6"/>
      </a:accent6>
      <a:hlink>
        <a:srgbClr val="14B8A6"/>
      </a:hlink>
      <a:folHlink>
        <a:srgbClr val="64748B"/>
      </a:folHlink>
    </a:clrScheme>
    <a:fontScheme name="CloudKitchen Insigh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1689</Words>
  <Application>Microsoft Office PowerPoint</Application>
  <PresentationFormat>On-screen Show (16:9)</PresentationFormat>
  <Paragraphs>152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CloudKitchen Insights</vt:lpstr>
      <vt:lpstr>Cloud Kitchen Performance Dashboard</vt:lpstr>
      <vt:lpstr>The business and the question</vt:lpstr>
      <vt:lpstr>How the data became a dashboard</vt:lpstr>
      <vt:lpstr>Headline: ₹38.3M net revenue</vt:lpstr>
      <vt:lpstr>Revenue peaks at 3 PM</vt:lpstr>
      <vt:lpstr>Two channels carry 84% of sales</vt:lpstr>
      <vt:lpstr>Discounts: Eatsure goes deepest</vt:lpstr>
      <vt:lpstr>Cancellations follow the channel</vt:lpstr>
      <vt:lpstr>When and where orders fail</vt:lpstr>
      <vt:lpstr>Recommendations</vt:lpstr>
      <vt:lpstr>Limitations and next steps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Kitchen Performance Dashboard: Insights</dc:title>
  <dc:subject>PptxGenJS Presentation</dc:subject>
  <dc:creator>Saad Ansari</dc:creator>
  <cp:lastModifiedBy>saad ansari</cp:lastModifiedBy>
  <cp:revision>2</cp:revision>
  <dcterms:created xsi:type="dcterms:W3CDTF">2026-10-24T05:20:42Z</dcterms:created>
  <dcterms:modified xsi:type="dcterms:W3CDTF">2026-10-25T05:13:40Z</dcterms:modified>
</cp:coreProperties>
</file>